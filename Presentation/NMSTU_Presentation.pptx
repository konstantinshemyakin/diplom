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3" r:id="rId3"/>
    <p:sldId id="269" r:id="rId4"/>
    <p:sldId id="258" r:id="rId5"/>
    <p:sldId id="260" r:id="rId6"/>
    <p:sldId id="268" r:id="rId7"/>
    <p:sldId id="267" r:id="rId8"/>
    <p:sldId id="261" r:id="rId9"/>
    <p:sldId id="275" r:id="rId10"/>
    <p:sldId id="271" r:id="rId11"/>
    <p:sldId id="277" r:id="rId12"/>
    <p:sldId id="272" r:id="rId13"/>
    <p:sldId id="265" r:id="rId14"/>
  </p:sldIdLst>
  <p:sldSz cx="12192000" cy="6858000"/>
  <p:notesSz cx="6888163" cy="100203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9319" autoAdjust="0"/>
  </p:normalViewPr>
  <p:slideViewPr>
    <p:cSldViewPr snapToGrid="0">
      <p:cViewPr varScale="1">
        <p:scale>
          <a:sx n="63" d="100"/>
          <a:sy n="63" d="100"/>
        </p:scale>
        <p:origin x="90" y="4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3312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62F913-4EC7-81DC-E9B9-A1C4292CF5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3FD6BA-0679-34B1-99C2-41838D4D5E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6F5DA-879A-4326-91CA-0B965521B3A2}" type="datetimeFigureOut">
              <a:rPr lang="ru-RU" smtClean="0"/>
              <a:t>19.06.2025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EB21E-F55E-5DBC-F938-663BD8E074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89F19-81DB-8B3C-5748-7BA59A6F91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6780E-B605-4B5E-A0B2-95429372F514}" type="slidenum">
              <a:rPr lang="ru-RU" sz="1600" smtClean="0"/>
              <a:t>‹#›</a:t>
            </a:fld>
            <a:endParaRPr lang="ru-RU" sz="1600"/>
          </a:p>
        </p:txBody>
      </p:sp>
    </p:spTree>
    <p:extLst>
      <p:ext uri="{BB962C8B-B14F-4D97-AF65-F5344CB8AC3E}">
        <p14:creationId xmlns:p14="http://schemas.microsoft.com/office/powerpoint/2010/main" val="68329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6AE87B-970E-4FB6-80B1-2A90D9E8F8EA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286526-F0ED-4506-B36C-96EAE6EA1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65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Здравствуйте</a:t>
            </a:r>
            <a:r>
              <a:rPr lang="ru-RU" baseline="0" dirty="0"/>
              <a:t> уважаемая аттестационная комиссия, сегодня я хочу представить вам свою выпускную квалификационную работу на тему «Разработка программной библиотеки для осуществления прямого управления эмбоссером </a:t>
            </a:r>
            <a:r>
              <a:rPr lang="en-US" baseline="0" dirty="0"/>
              <a:t>MATICA </a:t>
            </a:r>
            <a:r>
              <a:rPr lang="ru-RU" baseline="0" dirty="0"/>
              <a:t>через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ru-RU" baseline="0" dirty="0"/>
              <a:t>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30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</a:t>
            </a:r>
            <a:r>
              <a:rPr lang="ru-RU" baseline="0" dirty="0"/>
              <a:t>я начала стоит поговорить о поставленной задаче.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Для поддержки прямого управления нам был дан не весь эмбоссер, а только его часть – кардридерный модуль. Управление именно им необходимо было реализовать для выполнения поставленной задачи.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Как вы можете видеть на рисунке слева, сам модуль состоит из трех четко разделяемых компонентов: блока питания, управляющей платы и кардридеров. Саму управляющую плату вы видите на рисунке справа, все взаимодействие будет осуществляться именно с ней.</a:t>
            </a:r>
          </a:p>
          <a:p>
            <a:endParaRPr lang="ru-RU" baseline="0" dirty="0"/>
          </a:p>
          <a:p>
            <a:r>
              <a:rPr lang="ru-RU" baseline="0" dirty="0"/>
              <a:t>Стоит упомянуть, что кардридером является устройство, которое соединяется с чипом пластиковой карты и предоставляет аппаратный интерфейс взаимодействия с ней, одним словом позволяет взаимодействовать с ней программными средствами с помощью подключенной к нему ЭВМ. Эмбоссер же представляет из себя сложный технический комплекс, состоящий из большого количества модулей и задачей которого является персонализация бансковских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77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28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Из</a:t>
            </a:r>
            <a:r>
              <a:rPr lang="ru-RU" baseline="0" dirty="0"/>
              <a:t> приведенных данных мы можем вывести объект, предмет и цель исследования.</a:t>
            </a:r>
          </a:p>
          <a:p>
            <a:endParaRPr lang="ru-RU" baseline="0" dirty="0"/>
          </a:p>
          <a:p>
            <a:r>
              <a:rPr lang="ru-RU" baseline="0" dirty="0"/>
              <a:t>Объектом является процесс записи информации о клиенте банка на чип пластиковой карты через кардридерный модуль эмбоссера </a:t>
            </a:r>
            <a:r>
              <a:rPr lang="en-US" baseline="0" dirty="0"/>
              <a:t>MATICA.</a:t>
            </a:r>
          </a:p>
          <a:p>
            <a:endParaRPr lang="en-US" baseline="0" dirty="0"/>
          </a:p>
          <a:p>
            <a:r>
              <a:rPr lang="ru-RU" baseline="0" dirty="0"/>
              <a:t>Предметом является ПО для настройки обработки карт и осуществления такой обработки и средства взаимодействия с кардридерным модулем</a:t>
            </a:r>
            <a:r>
              <a:rPr lang="en-US" baseline="0" dirty="0"/>
              <a:t>.</a:t>
            </a:r>
          </a:p>
          <a:p>
            <a:endParaRPr lang="en-US" baseline="0" dirty="0"/>
          </a:p>
          <a:p>
            <a:r>
              <a:rPr lang="ru-RU" baseline="0" dirty="0"/>
              <a:t>Целью работы является обеспечение работы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с представленным кардридерным модулем.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516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Задачами исследования являются</a:t>
            </a:r>
            <a:endParaRPr lang="ru-RU" baseline="0" dirty="0"/>
          </a:p>
          <a:p>
            <a:endParaRPr lang="ru-RU" baseline="0" dirty="0"/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методов взаимодействия с кардридерным модулем эмбоссера.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возможностей платформы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и продукта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разработанного на ее основе.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Описать проектное решение для поставленной задачи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Получить результаты опытной эксплуатации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39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Далее</a:t>
            </a:r>
            <a:r>
              <a:rPr lang="ru-RU" baseline="0" dirty="0"/>
              <a:t> рассмотрим </a:t>
            </a:r>
            <a:r>
              <a:rPr lang="ru-RU" dirty="0"/>
              <a:t>разработанный на</a:t>
            </a:r>
            <a:r>
              <a:rPr lang="ru-RU" baseline="0" dirty="0"/>
              <a:t> базе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продукт </a:t>
            </a:r>
            <a:r>
              <a:rPr lang="en-US" baseline="0" dirty="0" err="1"/>
              <a:t>CardFactory</a:t>
            </a:r>
            <a:r>
              <a:rPr lang="ru-RU" baseline="0" dirty="0"/>
              <a:t>. Он позволяет предварительно настраивать обработку банковских карт и хранить эти настройки. Каждая такая настройка зовется карточным продуктом. Каждый карточный продукт состоит из набора модулей, которым соответствуют аналогичные по названиям модули настроек и обработки. На этапе настройки продукта используются модули настроек, настроенные параметры из которых записываются в файлы или базу данных. При запуске обработки карточного продукта, поочередно запускаются соответствующие модули обработки, которые берут настройки из необходимых расположений и производят действия, закрепленные за ними, такие как подгрузка данных из файлов</a:t>
            </a:r>
            <a:r>
              <a:rPr lang="en-US" baseline="0" dirty="0"/>
              <a:t>, </a:t>
            </a:r>
            <a:r>
              <a:rPr lang="ru-RU" baseline="0" dirty="0"/>
              <a:t>обработка данных карты и т.д. Именно модуль обработки </a:t>
            </a:r>
            <a:r>
              <a:rPr lang="en-US" baseline="0" dirty="0" err="1"/>
              <a:t>ChipWriterDriver</a:t>
            </a:r>
            <a:r>
              <a:rPr lang="ru-RU" baseline="0" dirty="0"/>
              <a:t> будет подгружать разработанный драйвер для осущесвления записи информации о клиенте на чип пластиковой карты.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87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Вернемся к</a:t>
            </a:r>
            <a:r>
              <a:rPr lang="ru-RU" baseline="0" dirty="0"/>
              <a:t> эмбоссеру. Его кардридерный модуль подключается к управляющей ЭВМ через внутреннюю сеть или же напрямую через порт </a:t>
            </a:r>
            <a:r>
              <a:rPr lang="en-US" baseline="0" dirty="0"/>
              <a:t>Ethernet. </a:t>
            </a:r>
            <a:r>
              <a:rPr lang="ru-RU" baseline="0" dirty="0"/>
              <a:t>К самому кардридерному модулю обязательно нужно обращаться по зарезервированным в нем адресам. У модуля есть базовый адрес – адрес управляющей платы. Также, у каждого подключенного к модулю ридера имеется свой адрес, который отсчитывается от базового. Адрес каждого ридера можно вычислить путем добавления номера ридера к младшему байту адреса.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66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Общая схема взаимодействия </a:t>
            </a:r>
            <a:r>
              <a:rPr lang="en-US" dirty="0" err="1"/>
              <a:t>CardFactory</a:t>
            </a:r>
            <a:r>
              <a:rPr lang="ru-RU" baseline="0" dirty="0"/>
              <a:t> с эмбоссером должна выглядеть следующим образом.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записывает данные для эмбоссирования карт в базу данных, после чего</a:t>
            </a:r>
            <a:r>
              <a:rPr lang="en-US" baseline="0" dirty="0"/>
              <a:t> </a:t>
            </a:r>
            <a:r>
              <a:rPr lang="ru-RU" baseline="0" dirty="0"/>
              <a:t>внутри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 запускается обработка и прерывается, когда наступает этап обработки чипа карты. Видите ли, внутри </a:t>
            </a:r>
            <a:r>
              <a:rPr lang="en-US" baseline="0" dirty="0" err="1"/>
              <a:t>Maticard</a:t>
            </a:r>
            <a:r>
              <a:rPr lang="en-US" baseline="0" dirty="0"/>
              <a:t> </a:t>
            </a:r>
            <a:r>
              <a:rPr lang="ru-RU" baseline="0" dirty="0"/>
              <a:t>возможно передать управление этапом обработки сторонней библиотеке. В данном случае нашими разработчиками была написана такая библиотека </a:t>
            </a:r>
            <a:r>
              <a:rPr lang="en-US" baseline="0" dirty="0" err="1"/>
              <a:t>dll</a:t>
            </a:r>
            <a:r>
              <a:rPr lang="ru-RU" baseline="0" dirty="0"/>
              <a:t>.</a:t>
            </a:r>
            <a:r>
              <a:rPr lang="en-US" baseline="0" dirty="0"/>
              <a:t> </a:t>
            </a:r>
            <a:r>
              <a:rPr lang="ru-RU" baseline="0" dirty="0"/>
              <a:t>Она связывается с </a:t>
            </a:r>
            <a:r>
              <a:rPr lang="en-US" baseline="0" dirty="0" err="1"/>
              <a:t>CardFactory</a:t>
            </a:r>
            <a:r>
              <a:rPr lang="ru-RU" baseline="0" dirty="0"/>
              <a:t>, который находится в процессе ожидания сообщения,</a:t>
            </a:r>
            <a:r>
              <a:rPr lang="en-US" baseline="0" dirty="0"/>
              <a:t> </a:t>
            </a:r>
            <a:r>
              <a:rPr lang="ru-RU" baseline="0" dirty="0"/>
              <a:t>через специальный </a:t>
            </a:r>
            <a:r>
              <a:rPr lang="en-US" baseline="0" dirty="0"/>
              <a:t>xml-</a:t>
            </a:r>
            <a:r>
              <a:rPr lang="ru-RU" baseline="0" dirty="0"/>
              <a:t>файл обмена, сигнализируя начало обработки чипа. В этот момент запускается драйвер записи карты, который использует функции драйвера </a:t>
            </a:r>
            <a:r>
              <a:rPr lang="en-US" baseline="0" dirty="0"/>
              <a:t>MATICA </a:t>
            </a:r>
            <a:r>
              <a:rPr lang="ru-RU" baseline="0" dirty="0"/>
              <a:t>для отправки данных на кардридерный модуль и получения сообщений от карты. После окончания записи модуль обработки чипа послает </a:t>
            </a:r>
            <a:r>
              <a:rPr lang="en-US" baseline="0" dirty="0"/>
              <a:t>xml-</a:t>
            </a:r>
            <a:r>
              <a:rPr lang="ru-RU" baseline="0" dirty="0"/>
              <a:t>сообщение в файл о завершении, отчего </a:t>
            </a:r>
            <a:r>
              <a:rPr lang="en-US" baseline="0" dirty="0" err="1"/>
              <a:t>Maticard</a:t>
            </a:r>
            <a:r>
              <a:rPr lang="ru-RU" baseline="0" dirty="0"/>
              <a:t> завершает обработку текущего модуля и</a:t>
            </a:r>
            <a:r>
              <a:rPr lang="en-US" baseline="0" dirty="0"/>
              <a:t> </a:t>
            </a:r>
            <a:r>
              <a:rPr lang="ru-RU" baseline="0" dirty="0"/>
              <a:t>продолжает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5171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4C7B9-4212-5EE1-1179-61C0B8FC6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E8812-99EF-0D16-E695-FE771CC8E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7139A8-4188-190D-214D-AFB692552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Проектное решение драйвера состояло из нескольких компонентов. Первым необходимым компонентом была переработка логики запуска модуля обработки </a:t>
            </a:r>
            <a:r>
              <a:rPr lang="en-US" dirty="0" err="1"/>
              <a:t>ChipWriterDriver</a:t>
            </a:r>
            <a:r>
              <a:rPr lang="en-US" dirty="0"/>
              <a:t>, </a:t>
            </a:r>
            <a:r>
              <a:rPr lang="ru-RU" dirty="0"/>
              <a:t>который отвечает за запись информации на чип карты. Сам модуль запускается функцией </a:t>
            </a:r>
            <a:r>
              <a:rPr lang="en-US" dirty="0"/>
              <a:t>Start(), </a:t>
            </a:r>
            <a:r>
              <a:rPr lang="ru-RU" dirty="0"/>
              <a:t>когда он подгружается вызывающим приложением </a:t>
            </a:r>
            <a:r>
              <a:rPr lang="en-US" dirty="0" err="1"/>
              <a:t>CardFactory</a:t>
            </a:r>
            <a:r>
              <a:rPr lang="ru-RU" dirty="0"/>
              <a:t>. Внутри происходит предварительная подгрузка настроек в зависимости от выбранного типа кардридера, а также запуск всех основных компонентов модуля. К тому же, при выборе многопоточного режима записи, выполняется функция </a:t>
            </a:r>
            <a:r>
              <a:rPr lang="en-US" dirty="0" err="1"/>
              <a:t>StartReaderInterfaces</a:t>
            </a:r>
            <a:r>
              <a:rPr lang="en-US" dirty="0"/>
              <a:t>(), </a:t>
            </a:r>
            <a:r>
              <a:rPr lang="ru-RU" dirty="0"/>
              <a:t>которая создает в дереве </a:t>
            </a:r>
            <a:r>
              <a:rPr lang="en-US" dirty="0" err="1"/>
              <a:t>ChipWriterDriver</a:t>
            </a:r>
            <a:r>
              <a:rPr lang="en-US" dirty="0"/>
              <a:t> </a:t>
            </a:r>
            <a:r>
              <a:rPr lang="ru-RU" dirty="0"/>
              <a:t>отдельные разделы-инстанции, в которые добавляются драйвер записи карты и драйвер кардридера с настройками. После создания каждой инстанции функция запускает ее работу запуская объект-задачу, работа которой сразу же выделяется в отдельный поток. Данная задача производит предварительную подготовку и запускает функцию </a:t>
            </a:r>
            <a:r>
              <a:rPr lang="en-US" dirty="0"/>
              <a:t>Personalization() </a:t>
            </a:r>
            <a:r>
              <a:rPr lang="ru-RU" dirty="0"/>
              <a:t>в драйвере записи, которая посредством функций кардридерного драйвера записывает информацию на карту.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D4540-EBD4-B50F-4573-74386C65C7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619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связи с кардридерным модулем используется протокол </a:t>
            </a:r>
            <a:r>
              <a:rPr lang="en-US" dirty="0"/>
              <a:t>TCP/IP. </a:t>
            </a:r>
            <a:r>
              <a:rPr lang="ru-RU" dirty="0"/>
              <a:t>По нему модулю передаются команды в виде строки текста, в которой содержится код на специальном языке программирования </a:t>
            </a:r>
            <a:r>
              <a:rPr lang="en-US" dirty="0" err="1"/>
              <a:t>TCPScript</a:t>
            </a:r>
            <a:r>
              <a:rPr lang="en-US" dirty="0"/>
              <a:t>. </a:t>
            </a:r>
            <a:r>
              <a:rPr lang="ru-RU" dirty="0"/>
              <a:t>При получении команды управляющая плата анализирует код в строке и выполняет его. Если команды посылаются по адресу определенного ридера, то команда все равно выполняется именно управляющей платой, но при этом если код будет содержать какие-либо команды управления кардридером, при этом будет учитваться выбранный по адресу ридер. Ответ на команды всегда приходит также в виде строки символов, которая передается драйвером </a:t>
            </a:r>
            <a:r>
              <a:rPr lang="en-US" dirty="0"/>
              <a:t>MATICA </a:t>
            </a:r>
            <a:r>
              <a:rPr lang="ru-RU" dirty="0"/>
              <a:t>драйверу записи карты, который уже в свою очередь принимает решение о том, продолжить запись или прервать</a:t>
            </a:r>
            <a:r>
              <a:rPr lang="en-US" dirty="0"/>
              <a:t> </a:t>
            </a:r>
            <a:r>
              <a:rPr lang="ru-RU" dirty="0"/>
              <a:t>ее по ошибке.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579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3211-DE71-5E26-1C70-5F6526FF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65255-6538-44E6-FD74-B8121AFF8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2D79F-2378-EE38-1237-390D4EC4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FFB1-FF7B-77FA-AF50-985EBDBF3B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318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 итогам, поставленная цель исследования была достигнута. Полученное проектное решение даст клиентам компании Компас плюс такие преимущества, как:</a:t>
            </a:r>
          </a:p>
          <a:p>
            <a:endParaRPr lang="ru-RU" dirty="0"/>
          </a:p>
          <a:p>
            <a:r>
              <a:rPr lang="ru-RU" dirty="0"/>
              <a:t>-Повышение скорости выпуска карт</a:t>
            </a:r>
          </a:p>
          <a:p>
            <a:r>
              <a:rPr lang="ru-RU" dirty="0"/>
              <a:t>-Отсутствие необходимости прерывать процесс персонализации карты для записи чипа карт, весь процесс будет происходить непрерывно</a:t>
            </a:r>
          </a:p>
          <a:p>
            <a:r>
              <a:rPr lang="ru-RU" dirty="0"/>
              <a:t>-Возможность удаленной работы с кардридерным модулем</a:t>
            </a:r>
          </a:p>
          <a:p>
            <a:r>
              <a:rPr lang="ru-RU" dirty="0"/>
              <a:t>-Возможность настройки кардридерного модуля внутри собственного продукта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04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0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16B55-A083-400A-A53D-83CD673D7AB5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96400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19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C1C20-8488-406D-BEC1-3EBBFF7F0C88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68968" y="6339332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219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FA3E3-1B09-48E4-B3AA-C803D5E16A77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14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63F76-3CA2-4748-A29D-2AB22D0BEB5B}" type="datetime1">
              <a:rPr lang="ru-RU" smtClean="0"/>
              <a:t>19.06.2025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805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4ED6F-8BE4-4669-B0A3-175B5B131B11}" type="datetime1">
              <a:rPr lang="ru-RU" smtClean="0"/>
              <a:t>19.06.2025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9259824" y="6357620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50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7DC02-F460-4FDC-95DB-DC6352A1EE94}" type="datetime1">
              <a:rPr lang="ru-RU" smtClean="0"/>
              <a:t>19.06.2025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7CF50-D4ED-4F06-9251-EFB3C02E6C46}" type="datetime1">
              <a:rPr lang="ru-RU" smtClean="0"/>
              <a:t>19.06.2025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53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8FBA7-1AD2-4D2B-BCA1-27950A33E466}" type="datetime1">
              <a:rPr lang="ru-RU" smtClean="0"/>
              <a:t>19.06.2025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5149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3C2C1-A2CA-49E6-9101-CA7FFB180E53}" type="datetime1">
              <a:rPr lang="ru-RU" smtClean="0"/>
              <a:t>19.06.2025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421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C6F81-D76A-46BC-82B2-E452FF2CA9C5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18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84A5D-C6EA-476C-B204-F5D11ADE9E0C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345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2239AA-F603-409E-949B-21A349D872FF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9296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AB917-4A67-459A-ADEA-E0250FA5C43E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054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6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C:\Users\Андрей\Desktop\1\Безымянный-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1154" y="-6351"/>
            <a:ext cx="12483153" cy="68643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12"/>
          <p:cNvSpPr>
            <a:spLocks noChangeArrowheads="1"/>
          </p:cNvSpPr>
          <p:nvPr/>
        </p:nvSpPr>
        <p:spPr bwMode="auto">
          <a:xfrm>
            <a:off x="1951630" y="209528"/>
            <a:ext cx="10099343" cy="17016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600" dirty="0">
                <a:solidFill>
                  <a:srgbClr val="323C8D"/>
                </a:solidFill>
                <a:latin typeface="Century Gothic" panose="020B0502020202020204" pitchFamily="34" charset="0"/>
              </a:rPr>
              <a:t>«</a:t>
            </a: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Федеральное государственное бюджетное образовательное учреждение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высшего образования «Магнитогорский государственный технический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университет им. Г.И. Носова»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220871" y="5615001"/>
            <a:ext cx="846161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Выполнил: студент группы</a:t>
            </a:r>
            <a:r>
              <a:rPr lang="en-US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 </a:t>
            </a: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АВб-21-12                                       Шемякин К. А.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Руководитель: доцент, к.т.н.                                                       Калитаев А. Н.</a:t>
            </a:r>
          </a:p>
        </p:txBody>
      </p:sp>
      <p:sp>
        <p:nvSpPr>
          <p:cNvPr id="5" name="Содержимое 9"/>
          <p:cNvSpPr txBox="1">
            <a:spLocks/>
          </p:cNvSpPr>
          <p:nvPr/>
        </p:nvSpPr>
        <p:spPr>
          <a:xfrm>
            <a:off x="1793189" y="2431745"/>
            <a:ext cx="10257784" cy="2579426"/>
          </a:xfrm>
          <a:prstGeom prst="rect">
            <a:avLst/>
          </a:prstGeom>
        </p:spPr>
        <p:txBody>
          <a:bodyPr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Font typeface="Arial" panose="020B0604020202020204" pitchFamily="34" charset="0"/>
              <a:buNone/>
              <a:defRPr/>
            </a:pP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Разработка программной библиотеки для осуществления прямого управления эмбоссером 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MATICA</a:t>
            </a: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через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242799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743960" y="106406"/>
            <a:ext cx="6704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Компоненты эмбоссера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675" y="1696995"/>
            <a:ext cx="3790949" cy="505459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933" y="1696994"/>
            <a:ext cx="3790950" cy="5054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7416" y="1016230"/>
            <a:ext cx="42794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Полный набор компонентов кардридерного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96675" y="1156772"/>
            <a:ext cx="4279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Управляющая плата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681E75-F451-29DC-EDB0-DE997F6E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2649582" y="104186"/>
            <a:ext cx="69028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текущих решений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474247" y="106207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/>
          <p:cNvGrpSpPr/>
          <p:nvPr/>
        </p:nvGrpSpPr>
        <p:grpSpPr>
          <a:xfrm>
            <a:off x="6339265" y="5008619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EE87BB1-2774-44E0-9E86-AF7136B2D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940310" y="1389503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2AAD5D6-671F-46D7-FB4F-FA0542AA49AB}"/>
              </a:ext>
            </a:extLst>
          </p:cNvPr>
          <p:cNvGrpSpPr/>
          <p:nvPr/>
        </p:nvGrpSpPr>
        <p:grpSpPr>
          <a:xfrm rot="16200000">
            <a:off x="3869485" y="3645095"/>
            <a:ext cx="1197406" cy="713418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23FE7613-C3BD-ED6E-0B2C-B1B4C6E9DC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 flipH="1">
            <a:off x="5373420" y="2049267"/>
            <a:ext cx="1358924" cy="4054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72B8CBA-1FE8-450E-1183-4DF1802B2A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462" y="5117406"/>
            <a:ext cx="1810669" cy="1085182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>
            <a:off x="3474248" y="4591746"/>
            <a:ext cx="1785431" cy="2128878"/>
            <a:chOff x="5808303" y="4460011"/>
            <a:chExt cx="1785431" cy="212887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23E8D1F-D839-4A4B-B861-F9F72C413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1979" y="4460011"/>
              <a:ext cx="838080" cy="166733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5808303" y="6188779"/>
              <a:ext cx="178543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Кардридер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 rot="5400000">
            <a:off x="7375178" y="3739798"/>
            <a:ext cx="1188645" cy="689302"/>
            <a:chOff x="2071940" y="4941171"/>
            <a:chExt cx="1486171" cy="88546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2071940" y="4941171"/>
              <a:ext cx="1475297" cy="44019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2082814" y="5386446"/>
              <a:ext cx="1475297" cy="440190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223D05A-6CC1-3BB0-56EC-E48ED1372B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3978" y="5501982"/>
            <a:ext cx="1349095" cy="3651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9133C89-31B9-47E1-A76D-E40CE3A781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664" y="5301575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7FF63-928B-2280-D98A-3349AA18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3</a:t>
            </a:fld>
            <a:endParaRPr lang="ru-RU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38C4DA5-75FC-DBDC-3386-3EACA6DA3E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2793" y="5474334"/>
            <a:ext cx="1349095" cy="3651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0DA6D19-172E-1097-C344-DE57B6C64D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1319" y="5474333"/>
            <a:ext cx="1349095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68737" y="1407607"/>
            <a:ext cx="10849972" cy="50797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</a:t>
            </a:r>
            <a:r>
              <a:rPr lang="ru-RU" altLang="ru-RU" sz="20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Процесс записи информации о клиенте банка на чип пластиковой карты через кардридерный модуль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Предмет: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Информационное и программное обеспечение для обработки карт,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включающей хранение данных настроек, обработку банковских карт средствами эмбоссеров и кардридеров, средства аппаратного и программного взаимодействия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Цель: 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Автоматизация процесса записи информации о клиенте банка на чип пластиковой карты посредством разрабатываемого модуля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 использования кардридерного модуля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70997" y="532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721" y="26251"/>
            <a:ext cx="9474005" cy="101202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183CE1-4132-EB64-F68F-202B8471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178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201567" y="1377485"/>
            <a:ext cx="11808823" cy="49476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ru-RU" sz="24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1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Для достижения поставленной цели необходимо выполнить следующие задачи: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Выполнить анализ работы эмбоссера </a:t>
            </a:r>
            <a:r>
              <a:rPr lang="en-US" sz="2100" dirty="0">
                <a:latin typeface="Century Gothic" panose="020B0502020202020204" pitchFamily="34" charset="0"/>
              </a:rPr>
              <a:t>MATICA </a:t>
            </a:r>
            <a:r>
              <a:rPr lang="ru-RU" sz="2100" dirty="0">
                <a:latin typeface="Century Gothic" panose="020B0502020202020204" pitchFamily="34" charset="0"/>
              </a:rPr>
              <a:t>и методов аппаратного и программного взаимодействия с его кардридерным модулем;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Провести анализ структуры программного продукта </a:t>
            </a:r>
            <a:r>
              <a:rPr lang="en-US" sz="2100" dirty="0" err="1">
                <a:latin typeface="Century Gothic" panose="020B0502020202020204" pitchFamily="34" charset="0"/>
              </a:rPr>
              <a:t>TranzWare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структуры существующих драйверов кардридеров; 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Описать проектные решения для управления кардридерным модулем эмбоссера </a:t>
            </a:r>
            <a:r>
              <a:rPr lang="en-US" sz="2100" dirty="0">
                <a:latin typeface="Century Gothic" panose="020B0502020202020204" pitchFamily="34" charset="0"/>
              </a:rPr>
              <a:t>MATICA</a:t>
            </a:r>
            <a:r>
              <a:rPr lang="ru-RU" sz="2100" dirty="0">
                <a:latin typeface="Century Gothic" panose="020B0502020202020204" pitchFamily="34" charset="0"/>
              </a:rPr>
              <a:t> и выполнить программную реализацию библиотеки</a:t>
            </a:r>
            <a:r>
              <a:rPr lang="en-US" sz="2100" dirty="0">
                <a:latin typeface="Century Gothic" panose="020B0502020202020204" pitchFamily="34" charset="0"/>
              </a:rPr>
              <a:t>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Внедрить разработанное программное решение в продукт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получить результаты опытной эксплуатации разработанной библиотеки.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8167" y="382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167" y="60791"/>
            <a:ext cx="5675868" cy="10120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5539A-4771-E7DC-CA78-C9B12090E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26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688843" y="129905"/>
            <a:ext cx="10992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Структурная схема ПО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3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480F7DD-AA32-D0B6-9E2E-D2823D59B24D}"/>
              </a:ext>
            </a:extLst>
          </p:cNvPr>
          <p:cNvGrpSpPr/>
          <p:nvPr/>
        </p:nvGrpSpPr>
        <p:grpSpPr>
          <a:xfrm>
            <a:off x="344335" y="2876939"/>
            <a:ext cx="1785431" cy="2255967"/>
            <a:chOff x="363807" y="1505569"/>
            <a:chExt cx="1785431" cy="225596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363807" y="3053650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582" y="1505569"/>
              <a:ext cx="1496533" cy="1562459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2562298" y="1763820"/>
            <a:ext cx="2828765" cy="1275810"/>
            <a:chOff x="3316223" y="1549485"/>
            <a:chExt cx="2828765" cy="127581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9133C89-31B9-47E1-A76D-E40CE3A78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7135" y="1549485"/>
              <a:ext cx="2206943" cy="86570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688B33-993A-A778-16F7-6315C19BA62A}"/>
                </a:ext>
              </a:extLst>
            </p:cNvPr>
            <p:cNvSpPr txBox="1"/>
            <p:nvPr/>
          </p:nvSpPr>
          <p:spPr>
            <a:xfrm>
              <a:off x="3316223" y="2425185"/>
              <a:ext cx="28287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Карточные продукты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042EECA-B3D1-31CF-3194-7B375F030343}"/>
              </a:ext>
            </a:extLst>
          </p:cNvPr>
          <p:cNvGrpSpPr/>
          <p:nvPr/>
        </p:nvGrpSpPr>
        <p:grpSpPr>
          <a:xfrm>
            <a:off x="2562785" y="3251851"/>
            <a:ext cx="2828765" cy="2194625"/>
            <a:chOff x="3581874" y="3169048"/>
            <a:chExt cx="2828765" cy="219462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3581874" y="3169048"/>
              <a:ext cx="2828765" cy="219462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18391" y="3354408"/>
              <a:ext cx="2465399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1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2</a:t>
              </a:r>
              <a:endParaRPr lang="ru-RU" sz="2800" dirty="0">
                <a:latin typeface="Century Gothic" panose="020B0502020202020204" pitchFamily="34" charset="0"/>
              </a:endParaRP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...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n</a:t>
              </a:r>
            </a:p>
          </p:txBody>
        </p:sp>
      </p:grpSp>
      <p:sp>
        <p:nvSpPr>
          <p:cNvPr id="35" name="Rectangle 34"/>
          <p:cNvSpPr/>
          <p:nvPr/>
        </p:nvSpPr>
        <p:spPr>
          <a:xfrm>
            <a:off x="8716136" y="1664201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0572" flipH="1">
            <a:off x="5415075" y="2795872"/>
            <a:ext cx="714428" cy="20771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B13795AF-1319-2194-09EC-BB1947018D81}"/>
              </a:ext>
            </a:extLst>
          </p:cNvPr>
          <p:cNvGrpSpPr/>
          <p:nvPr/>
        </p:nvGrpSpPr>
        <p:grpSpPr>
          <a:xfrm>
            <a:off x="6815884" y="3392897"/>
            <a:ext cx="2387406" cy="1195824"/>
            <a:chOff x="7838761" y="3407593"/>
            <a:chExt cx="2387406" cy="1195824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E0F9B1DF-C0D3-5F68-7E9B-BF5685B16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02627" y="3547051"/>
              <a:ext cx="645992" cy="866426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96E22DE-4516-4074-B8C8-B7A50F6B2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4186" y="3596668"/>
              <a:ext cx="999936" cy="767192"/>
            </a:xfrm>
            <a:prstGeom prst="rect">
              <a:avLst/>
            </a:prstGeom>
          </p:spPr>
        </p:pic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7838761" y="3407593"/>
              <a:ext cx="2387406" cy="1195824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183281" y="5132907"/>
            <a:ext cx="1265206" cy="1562459"/>
            <a:chOff x="6698461" y="1494327"/>
            <a:chExt cx="1265206" cy="1562459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1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7480374" y="5132906"/>
            <a:ext cx="1265206" cy="1562459"/>
            <a:chOff x="6698461" y="1494327"/>
            <a:chExt cx="1265206" cy="1562459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2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52" name="Group 51"/>
          <p:cNvGrpSpPr/>
          <p:nvPr/>
        </p:nvGrpSpPr>
        <p:grpSpPr>
          <a:xfrm>
            <a:off x="9807427" y="5132905"/>
            <a:ext cx="1265206" cy="1562459"/>
            <a:chOff x="6698461" y="1494327"/>
            <a:chExt cx="1265206" cy="1562459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56" name="Rectangle 55"/>
          <p:cNvSpPr/>
          <p:nvPr/>
        </p:nvSpPr>
        <p:spPr>
          <a:xfrm>
            <a:off x="8793818" y="5621116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93E071D-3A53-59F9-951F-208CCC3A1242}"/>
              </a:ext>
            </a:extLst>
          </p:cNvPr>
          <p:cNvGrpSpPr/>
          <p:nvPr/>
        </p:nvGrpSpPr>
        <p:grpSpPr>
          <a:xfrm>
            <a:off x="6091883" y="1133064"/>
            <a:ext cx="1269461" cy="1562459"/>
            <a:chOff x="6616624" y="1375491"/>
            <a:chExt cx="1269461" cy="156245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3819" y="1375491"/>
              <a:ext cx="1164942" cy="1562459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16624" y="2037332"/>
              <a:ext cx="126946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настроек 1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70" name="Picture 69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04836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F72DC34-B8A0-1CD3-3C2D-4C70E71491FE}"/>
              </a:ext>
            </a:extLst>
          </p:cNvPr>
          <p:cNvGrpSpPr/>
          <p:nvPr/>
        </p:nvGrpSpPr>
        <p:grpSpPr>
          <a:xfrm>
            <a:off x="7374857" y="1133063"/>
            <a:ext cx="1269461" cy="1562459"/>
            <a:chOff x="8102627" y="1375492"/>
            <a:chExt cx="1269461" cy="1562459"/>
          </a:xfrm>
        </p:grpSpPr>
        <p:grpSp>
          <p:nvGrpSpPr>
            <p:cNvPr id="27" name="Group 26"/>
            <p:cNvGrpSpPr/>
            <p:nvPr/>
          </p:nvGrpSpPr>
          <p:grpSpPr>
            <a:xfrm>
              <a:off x="8102627" y="1375492"/>
              <a:ext cx="1269461" cy="1562459"/>
              <a:chOff x="6691613" y="1494327"/>
              <a:chExt cx="1269461" cy="1562459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8808" y="1494327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2</a:t>
                </a:r>
                <a:endParaRPr lang="en-US" sz="1600" dirty="0">
                  <a:latin typeface="Century Gothic" panose="020B0502020202020204" pitchFamily="34" charset="0"/>
                </a:endParaRPr>
              </a:p>
            </p:txBody>
          </p:sp>
        </p:grpSp>
        <p:pic>
          <p:nvPicPr>
            <p:cNvPr id="72" name="Picture 7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0839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FA00AA9-6F68-9FB6-C53D-84304DA1E766}"/>
              </a:ext>
            </a:extLst>
          </p:cNvPr>
          <p:cNvGrpSpPr/>
          <p:nvPr/>
        </p:nvGrpSpPr>
        <p:grpSpPr>
          <a:xfrm>
            <a:off x="9408511" y="1137221"/>
            <a:ext cx="1269461" cy="1562459"/>
            <a:chOff x="10258120" y="1377146"/>
            <a:chExt cx="1269461" cy="1562459"/>
          </a:xfrm>
        </p:grpSpPr>
        <p:grpSp>
          <p:nvGrpSpPr>
            <p:cNvPr id="31" name="Group 30"/>
            <p:cNvGrpSpPr/>
            <p:nvPr/>
          </p:nvGrpSpPr>
          <p:grpSpPr>
            <a:xfrm>
              <a:off x="10258120" y="1377146"/>
              <a:ext cx="1269461" cy="1562459"/>
              <a:chOff x="6691613" y="1495981"/>
              <a:chExt cx="1269461" cy="1562459"/>
            </a:xfrm>
          </p:grpSpPr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31048" y="1495981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</a:t>
                </a:r>
                <a:r>
                  <a:rPr lang="en-US" sz="1600" dirty="0">
                    <a:latin typeface="Century Gothic" panose="020B0502020202020204" pitchFamily="34" charset="0"/>
                  </a:rPr>
                  <a:t>n</a:t>
                </a:r>
              </a:p>
            </p:txBody>
          </p:sp>
        </p:grpSp>
        <p:pic>
          <p:nvPicPr>
            <p:cNvPr id="73" name="Picture 72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544676" y="1459083"/>
              <a:ext cx="696348" cy="696348"/>
            </a:xfrm>
            <a:prstGeom prst="rect">
              <a:avLst/>
            </a:prstGeom>
          </p:spPr>
        </p:pic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171486" flipH="1" flipV="1">
            <a:off x="5501300" y="5230001"/>
            <a:ext cx="714428" cy="207710"/>
          </a:xfrm>
          <a:prstGeom prst="rect">
            <a:avLst/>
          </a:prstGeom>
        </p:spPr>
      </p:pic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2E2C803C-03CF-F5D1-E28D-2BB7D9A08693}"/>
              </a:ext>
            </a:extLst>
          </p:cNvPr>
          <p:cNvCxnSpPr>
            <a:stCxn id="45" idx="0"/>
            <a:endCxn id="43" idx="2"/>
          </p:cNvCxnSpPr>
          <p:nvPr/>
        </p:nvCxnSpPr>
        <p:spPr>
          <a:xfrm rot="5400000" flipH="1" flipV="1">
            <a:off x="7140750" y="4264070"/>
            <a:ext cx="544186" cy="119348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36B352D-A4B7-D4D7-6929-36A0FB7523A3}"/>
              </a:ext>
            </a:extLst>
          </p:cNvPr>
          <p:cNvCxnSpPr>
            <a:stCxn id="49" idx="0"/>
            <a:endCxn id="43" idx="2"/>
          </p:cNvCxnSpPr>
          <p:nvPr/>
        </p:nvCxnSpPr>
        <p:spPr>
          <a:xfrm rot="16200000" flipV="1">
            <a:off x="7789298" y="4809011"/>
            <a:ext cx="544185" cy="103605"/>
          </a:xfrm>
          <a:prstGeom prst="bentConnector3">
            <a:avLst>
              <a:gd name="adj1" fmla="val 50001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064F6D9-D004-AF03-D135-F8513C42CDC2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rot="10800000">
            <a:off x="9203290" y="3990809"/>
            <a:ext cx="654484" cy="1923326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461E0B64-FD2F-4C2A-015E-9FC7E400B4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 flipH="1" flipV="1">
            <a:off x="10240608" y="4702842"/>
            <a:ext cx="612322" cy="178024"/>
          </a:xfrm>
          <a:prstGeom prst="rect">
            <a:avLst/>
          </a:prstGeom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CA18B4EB-B526-2122-E4C2-DF9F37AA35C7}"/>
              </a:ext>
            </a:extLst>
          </p:cNvPr>
          <p:cNvGrpSpPr/>
          <p:nvPr/>
        </p:nvGrpSpPr>
        <p:grpSpPr>
          <a:xfrm>
            <a:off x="9550262" y="3069154"/>
            <a:ext cx="1581091" cy="1562459"/>
            <a:chOff x="9757919" y="3081660"/>
            <a:chExt cx="1364652" cy="1348571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A9B81A8-0B2C-1078-A6CB-4F150A8FA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919" y="3081660"/>
              <a:ext cx="1364652" cy="60498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49DEBA7-EDD2-E7F7-3F49-ADD5F0C01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74406" y="3584371"/>
              <a:ext cx="425168" cy="845860"/>
            </a:xfrm>
            <a:prstGeom prst="rect">
              <a:avLst/>
            </a:prstGeom>
          </p:spPr>
        </p:pic>
      </p:grp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9785FA5-97BC-FE93-3E5D-7D4D8F5AD8C2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976681" y="3039630"/>
            <a:ext cx="487" cy="21222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Slide Number Placeholder 78">
            <a:extLst>
              <a:ext uri="{FF2B5EF4-FFF2-40B4-BE49-F238E27FC236}">
                <a16:creationId xmlns:a16="http://schemas.microsoft.com/office/drawing/2014/main" id="{56F29E63-018E-B30A-AAD9-92F42684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6</a:t>
            </a:fld>
            <a:endParaRPr lang="ru-RU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A00D43-72D1-9436-D065-4106D5DB9753}"/>
              </a:ext>
            </a:extLst>
          </p:cNvPr>
          <p:cNvCxnSpPr>
            <a:stCxn id="15" idx="2"/>
            <a:endCxn id="43" idx="0"/>
          </p:cNvCxnSpPr>
          <p:nvPr/>
        </p:nvCxnSpPr>
        <p:spPr>
          <a:xfrm rot="16200000" flipH="1">
            <a:off x="7021881" y="2405191"/>
            <a:ext cx="697374" cy="127803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0E26390-BD57-D275-0CE3-097FD0CC1167}"/>
              </a:ext>
            </a:extLst>
          </p:cNvPr>
          <p:cNvCxnSpPr>
            <a:stCxn id="28" idx="2"/>
            <a:endCxn id="43" idx="0"/>
          </p:cNvCxnSpPr>
          <p:nvPr/>
        </p:nvCxnSpPr>
        <p:spPr>
          <a:xfrm rot="5400000">
            <a:off x="7663368" y="3041741"/>
            <a:ext cx="697375" cy="4936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9744BAC-EF43-EFB3-7BEB-079C5C3B5800}"/>
              </a:ext>
            </a:extLst>
          </p:cNvPr>
          <p:cNvCxnSpPr>
            <a:stCxn id="32" idx="2"/>
            <a:endCxn id="43" idx="0"/>
          </p:cNvCxnSpPr>
          <p:nvPr/>
        </p:nvCxnSpPr>
        <p:spPr>
          <a:xfrm rot="5400000">
            <a:off x="8673394" y="2035873"/>
            <a:ext cx="693217" cy="2020830"/>
          </a:xfrm>
          <a:prstGeom prst="bentConnector3">
            <a:avLst>
              <a:gd name="adj1" fmla="val 24192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95390B-60FD-DE33-2770-A5BA83E85515}"/>
              </a:ext>
            </a:extLst>
          </p:cNvPr>
          <p:cNvSpPr txBox="1"/>
          <p:nvPr/>
        </p:nvSpPr>
        <p:spPr>
          <a:xfrm>
            <a:off x="7106477" y="3770091"/>
            <a:ext cx="564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</a:t>
            </a:r>
            <a:r>
              <a:rPr lang="en-US" sz="2400" dirty="0" err="1"/>
              <a:t>ini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9543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379112" y="162234"/>
            <a:ext cx="9409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сетевого подключения к модулю</a:t>
            </a:r>
          </a:p>
        </p:txBody>
      </p:sp>
      <p:sp>
        <p:nvSpPr>
          <p:cNvPr id="3" name="Cloud 2"/>
          <p:cNvSpPr/>
          <p:nvPr/>
        </p:nvSpPr>
        <p:spPr>
          <a:xfrm>
            <a:off x="1063030" y="2893512"/>
            <a:ext cx="3597342" cy="2091847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53251" y="3754769"/>
            <a:ext cx="201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Внутренняя сеть</a:t>
            </a:r>
            <a:endParaRPr lang="en-US" dirty="0">
              <a:latin typeface="Century Gothic" panose="020B0502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951" y="1455586"/>
            <a:ext cx="965498" cy="1020222"/>
          </a:xfrm>
          <a:prstGeom prst="rect">
            <a:avLst/>
          </a:prstGeom>
        </p:spPr>
      </p:pic>
      <p:cxnSp>
        <p:nvCxnSpPr>
          <p:cNvPr id="13" name="Straight Connector 12"/>
          <p:cNvCxnSpPr>
            <a:stCxn id="3" idx="3"/>
            <a:endCxn id="10" idx="2"/>
          </p:cNvCxnSpPr>
          <p:nvPr/>
        </p:nvCxnSpPr>
        <p:spPr>
          <a:xfrm flipH="1" flipV="1">
            <a:off x="2861700" y="2475808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88075" y="1049835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66" y="5403232"/>
            <a:ext cx="2000266" cy="886768"/>
          </a:xfrm>
          <a:prstGeom prst="rect">
            <a:avLst/>
          </a:prstGeom>
        </p:spPr>
      </p:pic>
      <p:cxnSp>
        <p:nvCxnSpPr>
          <p:cNvPr id="16" name="Straight Connector 15"/>
          <p:cNvCxnSpPr>
            <a:cxnSpLocks/>
            <a:stCxn id="15" idx="0"/>
            <a:endCxn id="3" idx="1"/>
          </p:cNvCxnSpPr>
          <p:nvPr/>
        </p:nvCxnSpPr>
        <p:spPr>
          <a:xfrm flipV="1">
            <a:off x="2861699" y="4983132"/>
            <a:ext cx="2" cy="420100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582470" y="6290000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338" y="2590737"/>
            <a:ext cx="965498" cy="1020222"/>
          </a:xfrm>
          <a:prstGeom prst="rect">
            <a:avLst/>
          </a:prstGeom>
        </p:spPr>
      </p:pic>
      <p:cxnSp>
        <p:nvCxnSpPr>
          <p:cNvPr id="20" name="Straight Connector 19"/>
          <p:cNvCxnSpPr>
            <a:cxnSpLocks/>
            <a:stCxn id="21" idx="0"/>
          </p:cNvCxnSpPr>
          <p:nvPr/>
        </p:nvCxnSpPr>
        <p:spPr>
          <a:xfrm flipV="1">
            <a:off x="6084087" y="3577959"/>
            <a:ext cx="11911" cy="570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3954" y="4148266"/>
            <a:ext cx="2000266" cy="886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10462" y="2178706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04857" y="5072688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633" y="2716013"/>
            <a:ext cx="2000266" cy="886768"/>
          </a:xfrm>
          <a:prstGeom prst="rect">
            <a:avLst/>
          </a:prstGeom>
        </p:spPr>
      </p:pic>
      <p:cxnSp>
        <p:nvCxnSpPr>
          <p:cNvPr id="25" name="Straight Connector 24"/>
          <p:cNvCxnSpPr/>
          <p:nvPr/>
        </p:nvCxnSpPr>
        <p:spPr>
          <a:xfrm flipH="1" flipV="1">
            <a:off x="9749849" y="2178706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29" idx="0"/>
          </p:cNvCxnSpPr>
          <p:nvPr/>
        </p:nvCxnSpPr>
        <p:spPr>
          <a:xfrm flipV="1">
            <a:off x="8535711" y="3591404"/>
            <a:ext cx="562248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 flipV="1">
            <a:off x="9706069" y="3591404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37" idx="0"/>
          </p:cNvCxnSpPr>
          <p:nvPr/>
        </p:nvCxnSpPr>
        <p:spPr>
          <a:xfrm flipH="1" flipV="1">
            <a:off x="10314180" y="3591404"/>
            <a:ext cx="562247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886" y="4118180"/>
            <a:ext cx="641650" cy="127654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244" y="4125786"/>
            <a:ext cx="641650" cy="127654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602" y="4118180"/>
            <a:ext cx="641650" cy="1276546"/>
          </a:xfrm>
          <a:prstGeom prst="rect">
            <a:avLst/>
          </a:prstGeom>
        </p:spPr>
      </p:pic>
      <p:sp>
        <p:nvSpPr>
          <p:cNvPr id="51" name="Cloud 50"/>
          <p:cNvSpPr/>
          <p:nvPr/>
        </p:nvSpPr>
        <p:spPr>
          <a:xfrm>
            <a:off x="8535711" y="1049835"/>
            <a:ext cx="2340716" cy="1128871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9897348" y="2363371"/>
            <a:ext cx="14558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192.168.0.80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902706" y="5846616"/>
            <a:ext cx="1244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192.168.0.81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090241" y="5846616"/>
            <a:ext cx="12316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192.168.0.82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022300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1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174423" y="5542255"/>
            <a:ext cx="1063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2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265350" y="5841072"/>
            <a:ext cx="1571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192.168.0.(80+</a:t>
            </a:r>
            <a:r>
              <a:rPr lang="en-US" sz="1400" dirty="0">
                <a:latin typeface="Century Gothic" panose="020B0502020202020204" pitchFamily="34" charset="0"/>
              </a:rPr>
              <a:t>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7457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</a:t>
            </a:r>
            <a:r>
              <a:rPr lang="en-US" sz="1600" dirty="0">
                <a:latin typeface="Century Gothic" panose="020B0502020202020204" pitchFamily="34" charset="0"/>
              </a:rPr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5E1EE-08FE-760F-BCE3-F2645D157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42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529C2627-CD5F-A902-B215-21B7C19F6F64}"/>
              </a:ext>
            </a:extLst>
          </p:cNvPr>
          <p:cNvSpPr/>
          <p:nvPr/>
        </p:nvSpPr>
        <p:spPr>
          <a:xfrm>
            <a:off x="3384340" y="1229897"/>
            <a:ext cx="1583431" cy="4708051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74341" y="168153"/>
            <a:ext cx="844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взаимодействия с модулем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0822A2-AF19-425B-8F76-10DB171CCA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82" y="1150792"/>
            <a:ext cx="1496533" cy="15624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93" y="2711148"/>
            <a:ext cx="2806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entury Gothic" panose="020B0502020202020204" pitchFamily="34" charset="0"/>
              </a:rPr>
              <a:t>TranzWare</a:t>
            </a:r>
            <a:r>
              <a:rPr lang="en-US" dirty="0">
                <a:latin typeface="Century Gothic" panose="020B0502020202020204" pitchFamily="34" charset="0"/>
              </a:rPr>
              <a:t> </a:t>
            </a:r>
            <a:r>
              <a:rPr lang="en-US" dirty="0" err="1">
                <a:latin typeface="Century Gothic" panose="020B0502020202020204" pitchFamily="34" charset="0"/>
              </a:rPr>
              <a:t>CardFactory</a:t>
            </a:r>
            <a:endParaRPr lang="ru-RU" dirty="0">
              <a:latin typeface="Century Gothic" panose="020B0502020202020204" pitchFamily="34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9370779" y="1201715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3587184" y="4003986"/>
            <a:ext cx="1321445" cy="1562459"/>
            <a:chOff x="4459057" y="4591624"/>
            <a:chExt cx="1321445" cy="1562459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794B69E-09D4-23A3-CDBB-6C6AFAD7B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4FD0773-E414-71C1-CD4F-11915174B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0814F84-C5CB-7495-FDB8-4594AD13574B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09BACA4-1D71-F0C7-36ED-B050513D4C5C}"/>
              </a:ext>
            </a:extLst>
          </p:cNvPr>
          <p:cNvGrpSpPr/>
          <p:nvPr/>
        </p:nvGrpSpPr>
        <p:grpSpPr>
          <a:xfrm>
            <a:off x="6433398" y="3697448"/>
            <a:ext cx="2318274" cy="2220462"/>
            <a:chOff x="6979279" y="4486085"/>
            <a:chExt cx="2000266" cy="200203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9E5AD87-765D-6D83-EFF7-328CE7F0B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9279" y="4486085"/>
              <a:ext cx="2000266" cy="886768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C83D7F1F-5F26-C8F7-48AA-9808EE173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9698" y="5211569"/>
              <a:ext cx="641650" cy="1276546"/>
            </a:xfrm>
            <a:prstGeom prst="rect">
              <a:avLst/>
            </a:prstGeom>
          </p:spPr>
        </p:pic>
      </p:grpSp>
      <p:grpSp>
        <p:nvGrpSpPr>
          <p:cNvPr id="55" name="Group 54"/>
          <p:cNvGrpSpPr/>
          <p:nvPr/>
        </p:nvGrpSpPr>
        <p:grpSpPr>
          <a:xfrm>
            <a:off x="749822" y="3938125"/>
            <a:ext cx="1307252" cy="1562459"/>
            <a:chOff x="2008240" y="4591624"/>
            <a:chExt cx="1307252" cy="1562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F54CE67-D52E-7E47-20F6-FEA4C4533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8BBECC-6C15-992F-2037-2C2455C6AF93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72B8CBA-1FE8-450E-1183-4DF1802B2A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C2BB202-4FCA-1003-4FD8-D73EBB1B2F1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0703" y="4197030"/>
            <a:ext cx="1594785" cy="955795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F6654F96-E9BE-DA35-E423-5DAAB75D3BF5}"/>
              </a:ext>
            </a:extLst>
          </p:cNvPr>
          <p:cNvGrpSpPr/>
          <p:nvPr/>
        </p:nvGrpSpPr>
        <p:grpSpPr>
          <a:xfrm>
            <a:off x="3543452" y="1407330"/>
            <a:ext cx="1265206" cy="1562459"/>
            <a:chOff x="6698461" y="1494327"/>
            <a:chExt cx="1265206" cy="1562459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58CE8DA4-7DE9-DBAD-97A7-C363FF0C18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F29338C-911D-3D23-06AA-925043D7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4783CF9-1097-500D-249C-A4DA97DDD45B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63" name="Slide Number Placeholder 62">
            <a:extLst>
              <a:ext uri="{FF2B5EF4-FFF2-40B4-BE49-F238E27FC236}">
                <a16:creationId xmlns:a16="http://schemas.microsoft.com/office/drawing/2014/main" id="{07C019B1-715C-AB6B-ED8C-B62D3E00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1674" y="6547086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8</a:t>
            </a:fld>
            <a:endParaRPr lang="ru-RU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BE15AC37-9892-2EC3-291B-085BF0E4F107}"/>
              </a:ext>
            </a:extLst>
          </p:cNvPr>
          <p:cNvSpPr/>
          <p:nvPr/>
        </p:nvSpPr>
        <p:spPr>
          <a:xfrm>
            <a:off x="4822912" y="1542053"/>
            <a:ext cx="4293931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4C92A2D-D328-D7CB-1029-4AD0C19F55AE}"/>
              </a:ext>
            </a:extLst>
          </p:cNvPr>
          <p:cNvSpPr/>
          <p:nvPr/>
        </p:nvSpPr>
        <p:spPr>
          <a:xfrm rot="10800000">
            <a:off x="4808658" y="2171069"/>
            <a:ext cx="4293931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244E59A-381A-CE4A-AC2A-205D68AC2214}"/>
              </a:ext>
            </a:extLst>
          </p:cNvPr>
          <p:cNvSpPr/>
          <p:nvPr/>
        </p:nvSpPr>
        <p:spPr>
          <a:xfrm>
            <a:off x="2357112" y="1951200"/>
            <a:ext cx="1136423" cy="3693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B39A18-70A9-03F6-E561-E7330C907482}"/>
              </a:ext>
            </a:extLst>
          </p:cNvPr>
          <p:cNvGrpSpPr/>
          <p:nvPr/>
        </p:nvGrpSpPr>
        <p:grpSpPr>
          <a:xfrm>
            <a:off x="2097801" y="4242586"/>
            <a:ext cx="1413783" cy="976739"/>
            <a:chOff x="5722721" y="5018774"/>
            <a:chExt cx="1157836" cy="78749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F0EFA19-E671-2297-3A55-D427667B0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D73D725-8513-FB78-41CC-6AB006A9D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1434227-1539-4E76-E115-9BCF75FFF332}"/>
              </a:ext>
            </a:extLst>
          </p:cNvPr>
          <p:cNvSpPr/>
          <p:nvPr/>
        </p:nvSpPr>
        <p:spPr>
          <a:xfrm rot="5400000">
            <a:off x="3750373" y="3334736"/>
            <a:ext cx="898269" cy="3693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FC53B2C-B5A8-81B2-B5F9-DFE85786FC8F}"/>
              </a:ext>
            </a:extLst>
          </p:cNvPr>
          <p:cNvSpPr/>
          <p:nvPr/>
        </p:nvSpPr>
        <p:spPr>
          <a:xfrm rot="8980560">
            <a:off x="1749754" y="3248099"/>
            <a:ext cx="1900460" cy="389800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BB628C2-0CC7-78B0-5273-7D2C00C3AF54}"/>
              </a:ext>
            </a:extLst>
          </p:cNvPr>
          <p:cNvGrpSpPr/>
          <p:nvPr/>
        </p:nvGrpSpPr>
        <p:grpSpPr>
          <a:xfrm>
            <a:off x="4835207" y="4210008"/>
            <a:ext cx="1413783" cy="976739"/>
            <a:chOff x="5722721" y="5018774"/>
            <a:chExt cx="1157836" cy="787499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16670E0F-88F1-CFCA-61C0-783A23D40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002B4AA-E488-EB16-5B4F-6C120E10D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78D4E0-1CE7-61E5-0943-16AB1A97EDBA}"/>
              </a:ext>
            </a:extLst>
          </p:cNvPr>
          <p:cNvGrpSpPr/>
          <p:nvPr/>
        </p:nvGrpSpPr>
        <p:grpSpPr>
          <a:xfrm>
            <a:off x="8875629" y="4180313"/>
            <a:ext cx="1413783" cy="976739"/>
            <a:chOff x="5722721" y="5018774"/>
            <a:chExt cx="1157836" cy="787499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A88AC7AD-7EA6-C581-B9AD-1C8946836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1665200-A64B-4249-C4B8-F19B866D33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0016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C63B4-34B1-0B5B-C6C4-02F1837AC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551237D4-30A4-174F-F4B2-6EB4F6F2B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9A7C3-5246-6D4E-CB0B-DBB08438BCED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055EC-0780-03F6-45DB-0F0588B56077}"/>
              </a:ext>
            </a:extLst>
          </p:cNvPr>
          <p:cNvSpPr txBox="1"/>
          <p:nvPr/>
        </p:nvSpPr>
        <p:spPr>
          <a:xfrm>
            <a:off x="1379897" y="168153"/>
            <a:ext cx="9541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модуля обработки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071E09D-DE82-1C14-5978-CDBCB9036CFD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4EADB70-62BB-402D-1927-01F2B1DF89A5}"/>
              </a:ext>
            </a:extLst>
          </p:cNvPr>
          <p:cNvGrpSpPr/>
          <p:nvPr/>
        </p:nvGrpSpPr>
        <p:grpSpPr>
          <a:xfrm>
            <a:off x="296657" y="2426069"/>
            <a:ext cx="2103407" cy="2597590"/>
            <a:chOff x="6698461" y="1494327"/>
            <a:chExt cx="1265206" cy="1562459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78EF7BB-351E-23D4-D349-2889D41BD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18E4568-A62A-BD98-C152-D08F1E9C07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275BB04-81A4-73F5-1CD8-C7C513C2AD94}"/>
                </a:ext>
              </a:extLst>
            </p:cNvPr>
            <p:cNvSpPr txBox="1"/>
            <p:nvPr/>
          </p:nvSpPr>
          <p:spPr>
            <a:xfrm>
              <a:off x="6698461" y="2243686"/>
              <a:ext cx="1265206" cy="7220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00ABA0D-4009-ABD7-A879-2266D8CA1C5A}"/>
              </a:ext>
            </a:extLst>
          </p:cNvPr>
          <p:cNvSpPr/>
          <p:nvPr/>
        </p:nvSpPr>
        <p:spPr>
          <a:xfrm>
            <a:off x="2838094" y="1134745"/>
            <a:ext cx="2804845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43DD03-4BFC-8535-23DE-6A9C1D6ABF51}"/>
              </a:ext>
            </a:extLst>
          </p:cNvPr>
          <p:cNvCxnSpPr>
            <a:cxnSpLocks/>
            <a:stCxn id="66" idx="3"/>
            <a:endCxn id="3" idx="1"/>
          </p:cNvCxnSpPr>
          <p:nvPr/>
        </p:nvCxnSpPr>
        <p:spPr>
          <a:xfrm flipV="1">
            <a:off x="2317077" y="1448049"/>
            <a:ext cx="521017" cy="2276815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DE9F3ABF-FB29-6A72-767B-E259958F9213}"/>
              </a:ext>
            </a:extLst>
          </p:cNvPr>
          <p:cNvGrpSpPr/>
          <p:nvPr/>
        </p:nvGrpSpPr>
        <p:grpSpPr>
          <a:xfrm>
            <a:off x="10775298" y="1222360"/>
            <a:ext cx="1321445" cy="1562459"/>
            <a:chOff x="4459057" y="4591624"/>
            <a:chExt cx="1321445" cy="156245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F245C3-B189-75AD-D1E3-C86A1199F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4A5649C-011E-CF07-7837-0276FD0FB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1ACD4-2296-21EA-AA89-06F69C8241D5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856E-69D3-F119-5F0F-5A4B247EF62A}"/>
              </a:ext>
            </a:extLst>
          </p:cNvPr>
          <p:cNvGrpSpPr/>
          <p:nvPr/>
        </p:nvGrpSpPr>
        <p:grpSpPr>
          <a:xfrm>
            <a:off x="9402894" y="1213199"/>
            <a:ext cx="1307252" cy="1562459"/>
            <a:chOff x="2008240" y="4591624"/>
            <a:chExt cx="1307252" cy="156245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CF9ADBE-7F19-7626-C073-542FB6E86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4FBFEF-47CC-06B7-2EB4-79500A231416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59FC00E-CB4F-DA77-0170-6C4745F2C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ADE67C36-B6B6-BEEC-C9CF-2F9675FBF445}"/>
              </a:ext>
            </a:extLst>
          </p:cNvPr>
          <p:cNvSpPr/>
          <p:nvPr/>
        </p:nvSpPr>
        <p:spPr>
          <a:xfrm>
            <a:off x="7400260" y="3234951"/>
            <a:ext cx="270322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B5117B4-182D-745C-612B-A28582578C04}"/>
              </a:ext>
            </a:extLst>
          </p:cNvPr>
          <p:cNvGrpSpPr/>
          <p:nvPr/>
        </p:nvGrpSpPr>
        <p:grpSpPr>
          <a:xfrm>
            <a:off x="7400259" y="5568268"/>
            <a:ext cx="2703232" cy="1171891"/>
            <a:chOff x="7861714" y="5230663"/>
            <a:chExt cx="2019704" cy="1515187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F02574B-14D2-9178-F706-53856FD7D1F4}"/>
                </a:ext>
              </a:extLst>
            </p:cNvPr>
            <p:cNvSpPr/>
            <p:nvPr/>
          </p:nvSpPr>
          <p:spPr>
            <a:xfrm>
              <a:off x="7861714" y="5230663"/>
              <a:ext cx="2019704" cy="151460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2002098-8945-D6A9-0203-4F54D5A417CD}"/>
                </a:ext>
              </a:extLst>
            </p:cNvPr>
            <p:cNvSpPr txBox="1"/>
            <p:nvPr/>
          </p:nvSpPr>
          <p:spPr>
            <a:xfrm>
              <a:off x="7861714" y="5353070"/>
              <a:ext cx="1509309" cy="13927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>
                  <a:latin typeface="Century Gothic" panose="020B0502020202020204" pitchFamily="34" charset="0"/>
                </a:rPr>
                <a:t>Open()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CardConnect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CardClose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ru-RU" sz="1600" dirty="0">
                  <a:latin typeface="Century Gothic" panose="020B0502020202020204" pitchFamily="34" charset="0"/>
                </a:rPr>
                <a:t>...</a:t>
              </a:r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E0A68236-E8D3-A095-2560-884CEC387846}"/>
              </a:ext>
            </a:extLst>
          </p:cNvPr>
          <p:cNvSpPr/>
          <p:nvPr/>
        </p:nvSpPr>
        <p:spPr>
          <a:xfrm>
            <a:off x="3435943" y="4153553"/>
            <a:ext cx="3366529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</a:t>
            </a:r>
            <a:r>
              <a:rPr lang="en-US" dirty="0" err="1">
                <a:latin typeface="Century Gothic" panose="020B0502020202020204" pitchFamily="34" charset="0"/>
              </a:rPr>
              <a:t>StartReaderInterfaces</a:t>
            </a:r>
            <a:r>
              <a:rPr lang="en-US" dirty="0">
                <a:latin typeface="Century Gothic" panose="020B0502020202020204" pitchFamily="34" charset="0"/>
              </a:rPr>
              <a:t>()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0E35C4F-18E8-A43D-69E5-C072A7E237F7}"/>
              </a:ext>
            </a:extLst>
          </p:cNvPr>
          <p:cNvSpPr/>
          <p:nvPr/>
        </p:nvSpPr>
        <p:spPr>
          <a:xfrm>
            <a:off x="7400260" y="1088318"/>
            <a:ext cx="4649429" cy="1824113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>
              <a:latin typeface="Century Gothic" panose="020B0502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BFAD933-3AB1-0840-00A4-F05B4C98774A}"/>
              </a:ext>
            </a:extLst>
          </p:cNvPr>
          <p:cNvCxnSpPr/>
          <p:nvPr/>
        </p:nvCxnSpPr>
        <p:spPr>
          <a:xfrm flipH="1">
            <a:off x="7968189" y="2930698"/>
            <a:ext cx="1" cy="281466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1E25A2D5-8D8A-2D87-D0AC-8DF68C17D942}"/>
              </a:ext>
            </a:extLst>
          </p:cNvPr>
          <p:cNvSpPr/>
          <p:nvPr/>
        </p:nvSpPr>
        <p:spPr>
          <a:xfrm>
            <a:off x="7400260" y="4254535"/>
            <a:ext cx="270376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Personalization()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EB30-4211-FB34-F055-6C305D5C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641" y="6412721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9</a:t>
            </a:fld>
            <a:endParaRPr lang="ru-RU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847A69D-E300-BAF4-AE25-C679A50CDB7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4712498" y="1761352"/>
            <a:ext cx="0" cy="67617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68CDFF7-C7BB-2D4F-41BB-A8543C0F3AEC}"/>
              </a:ext>
            </a:extLst>
          </p:cNvPr>
          <p:cNvCxnSpPr>
            <a:cxnSpLocks/>
            <a:stCxn id="70" idx="3"/>
            <a:endCxn id="80" idx="1"/>
          </p:cNvCxnSpPr>
          <p:nvPr/>
        </p:nvCxnSpPr>
        <p:spPr>
          <a:xfrm flipV="1">
            <a:off x="6802472" y="2000375"/>
            <a:ext cx="597788" cy="2466482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ABA0D0D-75B1-F142-D8D9-CD5F59792DC8}"/>
              </a:ext>
            </a:extLst>
          </p:cNvPr>
          <p:cNvSpPr txBox="1"/>
          <p:nvPr/>
        </p:nvSpPr>
        <p:spPr>
          <a:xfrm>
            <a:off x="7524588" y="1118461"/>
            <a:ext cx="1821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cs typeface="Times New Roman" panose="02020603050405020304" pitchFamily="18" charset="0"/>
              </a:rPr>
              <a:t>Инстанция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6FAF616-21C4-EF25-D17A-842A8AAEB52C}"/>
              </a:ext>
            </a:extLst>
          </p:cNvPr>
          <p:cNvCxnSpPr>
            <a:cxnSpLocks/>
          </p:cNvCxnSpPr>
          <p:nvPr/>
        </p:nvCxnSpPr>
        <p:spPr>
          <a:xfrm>
            <a:off x="7968189" y="3922248"/>
            <a:ext cx="0" cy="33228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EC0772B4-3151-0C66-3CB5-ABAA68937BDC}"/>
              </a:ext>
            </a:extLst>
          </p:cNvPr>
          <p:cNvCxnSpPr>
            <a:cxnSpLocks/>
            <a:endCxn id="91" idx="3"/>
          </p:cNvCxnSpPr>
          <p:nvPr/>
        </p:nvCxnSpPr>
        <p:spPr>
          <a:xfrm rot="5400000">
            <a:off x="9361989" y="3517700"/>
            <a:ext cx="1822524" cy="338444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1399A299-09F9-8774-70B7-B10BB07F5943}"/>
              </a:ext>
            </a:extLst>
          </p:cNvPr>
          <p:cNvCxnSpPr>
            <a:endCxn id="69" idx="3"/>
          </p:cNvCxnSpPr>
          <p:nvPr/>
        </p:nvCxnSpPr>
        <p:spPr>
          <a:xfrm rot="5400000">
            <a:off x="9254356" y="3624795"/>
            <a:ext cx="3378331" cy="1680057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9EEB91A-1101-9804-5319-F44B8F909D7F}"/>
              </a:ext>
            </a:extLst>
          </p:cNvPr>
          <p:cNvSpPr txBox="1"/>
          <p:nvPr/>
        </p:nvSpPr>
        <p:spPr>
          <a:xfrm>
            <a:off x="3008316" y="5455179"/>
            <a:ext cx="24465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Настройки драйвера</a:t>
            </a:r>
          </a:p>
        </p:txBody>
      </p:sp>
      <p:sp>
        <p:nvSpPr>
          <p:cNvPr id="102" name="Flowchart: Document 101">
            <a:extLst>
              <a:ext uri="{FF2B5EF4-FFF2-40B4-BE49-F238E27FC236}">
                <a16:creationId xmlns:a16="http://schemas.microsoft.com/office/drawing/2014/main" id="{81BD9A91-678E-CC15-D38F-03CBA71CF887}"/>
              </a:ext>
            </a:extLst>
          </p:cNvPr>
          <p:cNvSpPr/>
          <p:nvPr/>
        </p:nvSpPr>
        <p:spPr>
          <a:xfrm>
            <a:off x="2879953" y="5238553"/>
            <a:ext cx="2703232" cy="1501156"/>
          </a:xfrm>
          <a:prstGeom prst="flowChartDocumen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6D2F687-BC8E-94E4-7D16-A1062D223203}"/>
              </a:ext>
            </a:extLst>
          </p:cNvPr>
          <p:cNvSpPr txBox="1"/>
          <p:nvPr/>
        </p:nvSpPr>
        <p:spPr>
          <a:xfrm>
            <a:off x="3675165" y="5843258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файл .</a:t>
            </a:r>
            <a:r>
              <a:rPr lang="en-US" sz="2000" dirty="0" err="1"/>
              <a:t>ini</a:t>
            </a:r>
            <a:endParaRPr lang="ru-RU" sz="2000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CA8A2B9-1A1C-FE26-BDCB-38322F3627BE}"/>
              </a:ext>
            </a:extLst>
          </p:cNvPr>
          <p:cNvCxnSpPr>
            <a:cxnSpLocks/>
          </p:cNvCxnSpPr>
          <p:nvPr/>
        </p:nvCxnSpPr>
        <p:spPr>
          <a:xfrm>
            <a:off x="3008316" y="1761352"/>
            <a:ext cx="0" cy="347720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Diamond 24">
            <a:extLst>
              <a:ext uri="{FF2B5EF4-FFF2-40B4-BE49-F238E27FC236}">
                <a16:creationId xmlns:a16="http://schemas.microsoft.com/office/drawing/2014/main" id="{14DD1AFE-249A-59AD-A37B-8802B8C4066F}"/>
              </a:ext>
            </a:extLst>
          </p:cNvPr>
          <p:cNvSpPr/>
          <p:nvPr/>
        </p:nvSpPr>
        <p:spPr>
          <a:xfrm>
            <a:off x="3241179" y="2437529"/>
            <a:ext cx="2942638" cy="1241024"/>
          </a:xfrm>
          <a:prstGeom prst="diamond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C1B0E6-AFC9-7CC4-AB34-578636AF89E1}"/>
              </a:ext>
            </a:extLst>
          </p:cNvPr>
          <p:cNvSpPr txBox="1"/>
          <p:nvPr/>
        </p:nvSpPr>
        <p:spPr>
          <a:xfrm>
            <a:off x="3728116" y="2576622"/>
            <a:ext cx="19902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Выбран многопоточный</a:t>
            </a:r>
          </a:p>
          <a:p>
            <a:pPr algn="ctr"/>
            <a:r>
              <a:rPr lang="ru-RU" dirty="0">
                <a:latin typeface="Century Gothic" panose="020B0502020202020204" pitchFamily="34" charset="0"/>
              </a:rPr>
              <a:t>режим?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18AC2F-7E53-5B88-4503-4EF35FBFDCA0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4712498" y="3678553"/>
            <a:ext cx="0" cy="47500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72F1D6F-85D2-C2A0-2C32-D915D87F653E}"/>
              </a:ext>
            </a:extLst>
          </p:cNvPr>
          <p:cNvSpPr txBox="1"/>
          <p:nvPr/>
        </p:nvSpPr>
        <p:spPr>
          <a:xfrm>
            <a:off x="4759936" y="3678553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Да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AB687399-5727-A428-CE93-675D4D5F9A77}"/>
              </a:ext>
            </a:extLst>
          </p:cNvPr>
          <p:cNvCxnSpPr>
            <a:cxnSpLocks/>
            <a:stCxn id="25" idx="3"/>
            <a:endCxn id="80" idx="1"/>
          </p:cNvCxnSpPr>
          <p:nvPr/>
        </p:nvCxnSpPr>
        <p:spPr>
          <a:xfrm flipV="1">
            <a:off x="6183817" y="2000375"/>
            <a:ext cx="1216443" cy="1057666"/>
          </a:xfrm>
          <a:prstGeom prst="bentConnector3">
            <a:avLst>
              <a:gd name="adj1" fmla="val 73538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99030D3-5C90-BA20-52A3-22318F268114}"/>
              </a:ext>
            </a:extLst>
          </p:cNvPr>
          <p:cNvSpPr txBox="1"/>
          <p:nvPr/>
        </p:nvSpPr>
        <p:spPr>
          <a:xfrm>
            <a:off x="6336436" y="2688400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Нет</a:t>
            </a: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43C73299-7EBB-77A6-93C2-33085FB3DA32}"/>
              </a:ext>
            </a:extLst>
          </p:cNvPr>
          <p:cNvSpPr/>
          <p:nvPr/>
        </p:nvSpPr>
        <p:spPr>
          <a:xfrm rot="16200000">
            <a:off x="7837365" y="5035126"/>
            <a:ext cx="491254" cy="406853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592F9ADA-1F8D-C074-801B-522FE9A5D752}"/>
              </a:ext>
            </a:extLst>
          </p:cNvPr>
          <p:cNvSpPr/>
          <p:nvPr/>
        </p:nvSpPr>
        <p:spPr>
          <a:xfrm rot="5400000">
            <a:off x="9208961" y="5067455"/>
            <a:ext cx="491254" cy="406853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937137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985027" y="114240"/>
            <a:ext cx="83311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драйвера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C68F7-144C-B6CD-0E3C-ADD78D112B73}"/>
              </a:ext>
            </a:extLst>
          </p:cNvPr>
          <p:cNvSpPr txBox="1"/>
          <p:nvPr/>
        </p:nvSpPr>
        <p:spPr>
          <a:xfrm>
            <a:off x="4049612" y="1718977"/>
            <a:ext cx="2862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Century Gothic" panose="020B0502020202020204" pitchFamily="34" charset="0"/>
              </a:rPr>
              <a:t>Драйвер </a:t>
            </a:r>
            <a:r>
              <a:rPr lang="en-US" sz="2400" dirty="0">
                <a:latin typeface="Century Gothic" panose="020B0502020202020204" pitchFamily="34" charset="0"/>
              </a:rPr>
              <a:t>MATICA</a:t>
            </a:r>
            <a:endParaRPr lang="ru-RU" sz="2400" dirty="0">
              <a:latin typeface="Century Gothic" panose="020B050202020202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266A12E-A5E0-3C59-89B4-F6D55F8B3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535" y="3127116"/>
            <a:ext cx="2611556" cy="115776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461C0FE-E260-B0B3-5BCB-386BDF127C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6224" y="4131987"/>
            <a:ext cx="740455" cy="147311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FB8FFEE-F40A-1BCD-1703-038E429C33C3}"/>
              </a:ext>
            </a:extLst>
          </p:cNvPr>
          <p:cNvSpPr txBox="1"/>
          <p:nvPr/>
        </p:nvSpPr>
        <p:spPr>
          <a:xfrm>
            <a:off x="10093149" y="5641762"/>
            <a:ext cx="1680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Century Gothic" panose="020B0502020202020204" pitchFamily="34" charset="0"/>
              </a:rPr>
              <a:t>Ридер 1</a:t>
            </a:r>
          </a:p>
          <a:p>
            <a:pPr algn="ctr"/>
            <a:r>
              <a:rPr lang="ru-RU" sz="2000" dirty="0">
                <a:latin typeface="Century Gothic" panose="020B0502020202020204" pitchFamily="34" charset="0"/>
              </a:rPr>
              <a:t>192.168.0.81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C6D349-E4D8-4224-7685-748A037D971E}"/>
              </a:ext>
            </a:extLst>
          </p:cNvPr>
          <p:cNvSpPr txBox="1"/>
          <p:nvPr/>
        </p:nvSpPr>
        <p:spPr>
          <a:xfrm>
            <a:off x="7678862" y="4444043"/>
            <a:ext cx="2091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TCP/IP 192.168.0.81</a:t>
            </a:r>
          </a:p>
          <a:p>
            <a:pPr algn="ctr"/>
            <a:r>
              <a:rPr lang="en-US" dirty="0" err="1"/>
              <a:t>TCPScript</a:t>
            </a:r>
            <a:r>
              <a:rPr lang="en-US" dirty="0"/>
              <a:t> </a:t>
            </a:r>
            <a:r>
              <a:rPr lang="ru-RU" dirty="0"/>
              <a:t>строка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048D3-8958-FB7D-4C49-89469A760528}"/>
              </a:ext>
            </a:extLst>
          </p:cNvPr>
          <p:cNvSpPr txBox="1"/>
          <p:nvPr/>
        </p:nvSpPr>
        <p:spPr>
          <a:xfrm>
            <a:off x="7547463" y="2988894"/>
            <a:ext cx="2156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Ответ в виде строки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5F6F69-ADAA-96D4-C11B-63455F208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10</a:t>
            </a:fld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089F0A-458C-9AA2-9845-7662D92D807E}"/>
              </a:ext>
            </a:extLst>
          </p:cNvPr>
          <p:cNvSpPr/>
          <p:nvPr/>
        </p:nvSpPr>
        <p:spPr>
          <a:xfrm>
            <a:off x="3444942" y="2328529"/>
            <a:ext cx="4072270" cy="3636335"/>
          </a:xfrm>
          <a:prstGeom prst="rec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71A94C7-9BDF-A44A-0D2C-685E1B71406B}"/>
              </a:ext>
            </a:extLst>
          </p:cNvPr>
          <p:cNvGrpSpPr/>
          <p:nvPr/>
        </p:nvGrpSpPr>
        <p:grpSpPr>
          <a:xfrm>
            <a:off x="210102" y="2940848"/>
            <a:ext cx="1765292" cy="2367668"/>
            <a:chOff x="2008240" y="4591624"/>
            <a:chExt cx="1164942" cy="156245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169DD1-441F-999F-93EE-7F9F0C2D4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A0F036-D216-15A3-FE60-A8CA81D8C1B7}"/>
                </a:ext>
              </a:extLst>
            </p:cNvPr>
            <p:cNvSpPr txBox="1"/>
            <p:nvPr/>
          </p:nvSpPr>
          <p:spPr>
            <a:xfrm>
              <a:off x="2041424" y="5278921"/>
              <a:ext cx="1039044" cy="6702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12D6956-561E-0BA7-D6EA-4AA35B273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E0F92DB-8619-FE44-018B-C7E7C12BCE3A}"/>
              </a:ext>
            </a:extLst>
          </p:cNvPr>
          <p:cNvSpPr txBox="1"/>
          <p:nvPr/>
        </p:nvSpPr>
        <p:spPr>
          <a:xfrm>
            <a:off x="3631104" y="2457916"/>
            <a:ext cx="3738941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Open(</a:t>
            </a:r>
            <a:r>
              <a:rPr lang="en-US" sz="2400" dirty="0" err="1"/>
              <a:t>RStr</a:t>
            </a:r>
            <a:r>
              <a:rPr lang="en-US" sz="2400" dirty="0"/>
              <a:t> address)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WaitCard</a:t>
            </a:r>
            <a:r>
              <a:rPr lang="en-US" sz="2400" dirty="0"/>
              <a:t>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int Transfer(</a:t>
            </a:r>
            <a:r>
              <a:rPr lang="en-US" sz="2400" dirty="0" err="1"/>
              <a:t>RStr</a:t>
            </a:r>
            <a:r>
              <a:rPr lang="en-US" sz="2400" dirty="0"/>
              <a:t> </a:t>
            </a:r>
            <a:r>
              <a:rPr lang="en-US" sz="2400" dirty="0" err="1"/>
              <a:t>sendData</a:t>
            </a:r>
            <a:r>
              <a:rPr lang="en-US" sz="2400" dirty="0"/>
              <a:t>, </a:t>
            </a:r>
            <a:r>
              <a:rPr lang="en-US" sz="2400" dirty="0" err="1"/>
              <a:t>LStr</a:t>
            </a:r>
            <a:r>
              <a:rPr lang="en-US" sz="2400" dirty="0"/>
              <a:t> </a:t>
            </a:r>
            <a:r>
              <a:rPr lang="en-US" sz="2400" dirty="0" err="1"/>
              <a:t>recvData</a:t>
            </a:r>
            <a:r>
              <a:rPr lang="en-US" sz="2400" dirty="0"/>
              <a:t>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Restart()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EjectCard</a:t>
            </a:r>
            <a:r>
              <a:rPr lang="en-US" sz="2400" dirty="0"/>
              <a:t>()</a:t>
            </a:r>
            <a:endParaRPr lang="ru-RU" sz="2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6C19A-E342-FA05-2C11-B9E8442B6784}"/>
              </a:ext>
            </a:extLst>
          </p:cNvPr>
          <p:cNvGrpSpPr/>
          <p:nvPr/>
        </p:nvGrpSpPr>
        <p:grpSpPr>
          <a:xfrm>
            <a:off x="2079792" y="3429000"/>
            <a:ext cx="1294475" cy="880434"/>
            <a:chOff x="9590966" y="4185349"/>
            <a:chExt cx="1157836" cy="78749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F62A5AC-E6E7-21EC-439D-83AC4F64A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7225D4E-79CA-1226-4C3E-AB5BD1A30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CB292-52CB-04CE-5598-D2411A898F66}"/>
              </a:ext>
            </a:extLst>
          </p:cNvPr>
          <p:cNvGrpSpPr/>
          <p:nvPr/>
        </p:nvGrpSpPr>
        <p:grpSpPr>
          <a:xfrm>
            <a:off x="7810136" y="3445214"/>
            <a:ext cx="1294475" cy="880434"/>
            <a:chOff x="9590966" y="4185349"/>
            <a:chExt cx="1157836" cy="78749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7B408D8-6A1B-8EC6-BC8D-7AEC11E07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DFA6882-2159-2145-2B4A-82C46722F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AB614CA-9C7F-1B49-5BE4-5F3B0704F493}"/>
              </a:ext>
            </a:extLst>
          </p:cNvPr>
          <p:cNvSpPr txBox="1"/>
          <p:nvPr/>
        </p:nvSpPr>
        <p:spPr>
          <a:xfrm>
            <a:off x="2164079" y="4444042"/>
            <a:ext cx="1041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</a:t>
            </a:r>
          </a:p>
          <a:p>
            <a:r>
              <a:rPr lang="ru-RU" dirty="0"/>
              <a:t>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82202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5A32A-B847-9EEC-1332-E852FF7F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25AD3CD8-2F47-BA57-F157-82A11F645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11015E-D3B6-2969-3514-0780B99258FA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A55057-2BA1-06D8-1DC2-A5C118F15A01}"/>
              </a:ext>
            </a:extLst>
          </p:cNvPr>
          <p:cNvSpPr txBox="1"/>
          <p:nvPr/>
        </p:nvSpPr>
        <p:spPr>
          <a:xfrm>
            <a:off x="3164749" y="137376"/>
            <a:ext cx="58625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Полученный результат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347E3-5E3B-981D-5BEE-4C258D764B3C}"/>
              </a:ext>
            </a:extLst>
          </p:cNvPr>
          <p:cNvGrpSpPr/>
          <p:nvPr/>
        </p:nvGrpSpPr>
        <p:grpSpPr>
          <a:xfrm>
            <a:off x="2192404" y="136831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6F68803-8B80-7A3C-CC40-38A98DB10B2F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4150CA6-F809-C224-716F-3C7FE197F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D96036-E80B-98FA-6ADF-8C252134FE2B}"/>
              </a:ext>
            </a:extLst>
          </p:cNvPr>
          <p:cNvGrpSpPr/>
          <p:nvPr/>
        </p:nvGrpSpPr>
        <p:grpSpPr>
          <a:xfrm>
            <a:off x="5116020" y="4821403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28DAD5F-0607-CBCF-0BB6-55824DBF8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C771F6-641E-A9B0-3DDF-AD9D484A5F8A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C7D89F-5C7F-6203-214C-B6B277DA89E8}"/>
              </a:ext>
            </a:extLst>
          </p:cNvPr>
          <p:cNvGrpSpPr/>
          <p:nvPr/>
        </p:nvGrpSpPr>
        <p:grpSpPr>
          <a:xfrm>
            <a:off x="7891293" y="1251472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0FAA1B6-1561-3B29-D482-2C2572DDA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D2CC07-1782-E0E4-4916-9CCBFB0E1D10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78D3DC5-FC2C-2E58-475B-AB377F1DEAE5}"/>
              </a:ext>
            </a:extLst>
          </p:cNvPr>
          <p:cNvGrpSpPr/>
          <p:nvPr/>
        </p:nvGrpSpPr>
        <p:grpSpPr>
          <a:xfrm>
            <a:off x="4119564" y="2864457"/>
            <a:ext cx="1250190" cy="868777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5401375-6B3A-A832-6805-C919C6246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21A3874-6C9B-752B-1B31-5546587F7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4793CAE-88A6-7906-4A2C-7B006B12D6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226" y="5080571"/>
            <a:ext cx="1810669" cy="108518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CB8E09-38F0-A824-24EA-2EFF96B6A9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6710" y="5300046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CEEB6-A125-02EB-5E4E-BA036D312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11</a:t>
            </a:fld>
            <a:endParaRPr lang="ru-R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FA28451-37C6-7634-A1E5-0FB9912301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8896" y="5425614"/>
            <a:ext cx="1584729" cy="428898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83397354-AF78-9F5E-5983-9D64A1B441C7}"/>
              </a:ext>
            </a:extLst>
          </p:cNvPr>
          <p:cNvGrpSpPr/>
          <p:nvPr/>
        </p:nvGrpSpPr>
        <p:grpSpPr>
          <a:xfrm>
            <a:off x="5609836" y="2728635"/>
            <a:ext cx="1321445" cy="1562459"/>
            <a:chOff x="4459057" y="4591624"/>
            <a:chExt cx="1321445" cy="156245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66F2B58-F642-D005-C1E4-405635F7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5BC1F09-2B02-0C6E-E34D-4CD93CD47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E79FFB8-18C1-25AB-911B-E14F1796DE7D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9317591-C0BE-C8C4-B732-F6EB5765880F}"/>
              </a:ext>
            </a:extLst>
          </p:cNvPr>
          <p:cNvSpPr/>
          <p:nvPr/>
        </p:nvSpPr>
        <p:spPr>
          <a:xfrm>
            <a:off x="4154385" y="1600843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4CD1BC5-655A-647E-A20E-77ED616B1451}"/>
              </a:ext>
            </a:extLst>
          </p:cNvPr>
          <p:cNvSpPr/>
          <p:nvPr/>
        </p:nvSpPr>
        <p:spPr>
          <a:xfrm rot="10800000">
            <a:off x="4134505" y="2092199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760113-C4D4-23B8-5AD9-5EC7DAFB75DA}"/>
              </a:ext>
            </a:extLst>
          </p:cNvPr>
          <p:cNvGrpSpPr/>
          <p:nvPr/>
        </p:nvGrpSpPr>
        <p:grpSpPr>
          <a:xfrm rot="18737432">
            <a:off x="6973287" y="3756803"/>
            <a:ext cx="1939558" cy="764973"/>
            <a:chOff x="7497459" y="3494533"/>
            <a:chExt cx="3558382" cy="975988"/>
          </a:xfrm>
        </p:grpSpPr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41F3CD33-7DDD-229F-6EA1-CA70F01DB346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31C42D58-2968-FA74-D035-DEEA2AF327B1}"/>
                </a:ext>
              </a:extLst>
            </p:cNvPr>
            <p:cNvSpPr/>
            <p:nvPr/>
          </p:nvSpPr>
          <p:spPr>
            <a:xfrm rot="10800000">
              <a:off x="7497459" y="3985889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126E9F-0B96-C82A-167E-A7D4F20365D6}"/>
              </a:ext>
            </a:extLst>
          </p:cNvPr>
          <p:cNvGrpSpPr/>
          <p:nvPr/>
        </p:nvGrpSpPr>
        <p:grpSpPr>
          <a:xfrm rot="16200000">
            <a:off x="5957291" y="4133828"/>
            <a:ext cx="451525" cy="912748"/>
            <a:chOff x="7180363" y="3494533"/>
            <a:chExt cx="3875478" cy="1164531"/>
          </a:xfrm>
        </p:grpSpPr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78FFFB51-77A7-3A82-32D0-6FF7740AFC5C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30415E33-5B30-B160-ED7E-0B245F98B66B}"/>
                </a:ext>
              </a:extLst>
            </p:cNvPr>
            <p:cNvSpPr/>
            <p:nvPr/>
          </p:nvSpPr>
          <p:spPr>
            <a:xfrm rot="10800000">
              <a:off x="7180363" y="4174431"/>
              <a:ext cx="3538506" cy="484633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DF4CCBC-1517-C17C-258C-6E3EDB21B6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2522" y="5408713"/>
            <a:ext cx="1584729" cy="42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622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226726" y="168153"/>
            <a:ext cx="9738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Преимущества программного решения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2" name="Прямоугольник 5"/>
          <p:cNvSpPr/>
          <p:nvPr/>
        </p:nvSpPr>
        <p:spPr>
          <a:xfrm>
            <a:off x="295702" y="1616374"/>
            <a:ext cx="1160059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ru-RU" sz="17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Автоматизация работы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даст компании ООО «Компас плюс» и ее клиентам такие преимущества как: 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Повышение скорости выпуска карт при использовании эмбоссеров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Отсутствие необходимости отдельно производить запись информации на чип, весь процесс персонализации будет происходить непрерывно;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удаленной работы с кардридерным модулем;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изменения настроек кардридерного модуля внутри собственного продукта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DA0625-4083-6AF0-F017-2C83C1705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992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37633" y="1009934"/>
            <a:ext cx="68355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Спасибо 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за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внимание!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41D41-5C96-6451-10EE-634D51BB9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366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2013</TotalTime>
  <Words>1634</Words>
  <Application>Microsoft Office PowerPoint</Application>
  <PresentationFormat>Widescreen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Century Gothic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Alena Kalyuzhnaya</dc:creator>
  <cp:lastModifiedBy>Konstantin A. Shemyakin</cp:lastModifiedBy>
  <cp:revision>130</cp:revision>
  <cp:lastPrinted>2017-06-22T16:10:04Z</cp:lastPrinted>
  <dcterms:created xsi:type="dcterms:W3CDTF">2017-06-16T14:15:23Z</dcterms:created>
  <dcterms:modified xsi:type="dcterms:W3CDTF">2025-06-19T07:58:31Z</dcterms:modified>
</cp:coreProperties>
</file>