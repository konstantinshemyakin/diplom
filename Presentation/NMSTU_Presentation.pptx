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63" r:id="rId3"/>
    <p:sldId id="269" r:id="rId4"/>
    <p:sldId id="258" r:id="rId5"/>
    <p:sldId id="260" r:id="rId6"/>
    <p:sldId id="268" r:id="rId7"/>
    <p:sldId id="267" r:id="rId8"/>
    <p:sldId id="261" r:id="rId9"/>
    <p:sldId id="275" r:id="rId10"/>
    <p:sldId id="271" r:id="rId11"/>
    <p:sldId id="277" r:id="rId12"/>
    <p:sldId id="272" r:id="rId13"/>
    <p:sldId id="265" r:id="rId14"/>
  </p:sldIdLst>
  <p:sldSz cx="12192000" cy="6858000"/>
  <p:notesSz cx="6888163" cy="100203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D4D4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2" autoAdjust="0"/>
    <p:restoredTop sz="86417" autoAdjust="0"/>
  </p:normalViewPr>
  <p:slideViewPr>
    <p:cSldViewPr snapToGrid="0">
      <p:cViewPr varScale="1">
        <p:scale>
          <a:sx n="48" d="100"/>
          <a:sy n="48" d="100"/>
        </p:scale>
        <p:origin x="53" y="571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58" d="100"/>
          <a:sy n="58" d="100"/>
        </p:scale>
        <p:origin x="3312" y="43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E62F913-4EC7-81DC-E9B9-A1C4292CF58C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93FD6BA-0679-34B1-99C2-41838D4D5E9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26F5DA-879A-4326-91CA-0B965521B3A2}" type="datetimeFigureOut">
              <a:rPr lang="ru-RU" smtClean="0"/>
              <a:t>14.06.2025</a:t>
            </a:fld>
            <a:endParaRPr lang="ru-R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8EB21E-F55E-5DBC-F938-663BD8E0744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9989F19-81DB-8B3C-5748-7BA59A6F913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86780E-B605-4B5E-A0B2-95429372F514}" type="slidenum">
              <a:rPr lang="ru-RU" sz="1600" smtClean="0"/>
              <a:t>‹#›</a:t>
            </a:fld>
            <a:endParaRPr lang="ru-RU" sz="1600"/>
          </a:p>
        </p:txBody>
      </p:sp>
    </p:spTree>
    <p:extLst>
      <p:ext uri="{BB962C8B-B14F-4D97-AF65-F5344CB8AC3E}">
        <p14:creationId xmlns:p14="http://schemas.microsoft.com/office/powerpoint/2010/main" val="68329845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02075" y="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36AE87B-970E-4FB6-80B1-2A90D9E8F8EA}" type="datetimeFigureOut">
              <a:rPr lang="en-US" smtClean="0"/>
              <a:t>6/14/2025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39738" y="1252538"/>
            <a:ext cx="6008687" cy="33813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8975" y="4822825"/>
            <a:ext cx="5510213" cy="39449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02075" y="9518650"/>
            <a:ext cx="2984500" cy="5016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8286526-F0ED-4506-B36C-96EAE6EA189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45656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Здравствуйте</a:t>
            </a:r>
            <a:r>
              <a:rPr lang="ru-RU" baseline="0" dirty="0"/>
              <a:t> уважаемая аттестационная комиссия, сегодня я хочу представить вам свою выпускную квалификационную работу на тему «Разработка программной библиотеки для осуществления прямого управления эмбоссером </a:t>
            </a:r>
            <a:r>
              <a:rPr lang="en-US" baseline="0" dirty="0"/>
              <a:t>MATICA </a:t>
            </a:r>
            <a:r>
              <a:rPr lang="ru-RU" baseline="0" dirty="0"/>
              <a:t>через </a:t>
            </a:r>
            <a:r>
              <a:rPr lang="en-US" baseline="0" dirty="0" err="1"/>
              <a:t>TranzWare</a:t>
            </a:r>
            <a:r>
              <a:rPr lang="en-US" baseline="0" dirty="0"/>
              <a:t> </a:t>
            </a:r>
            <a:r>
              <a:rPr lang="en-US" baseline="0" dirty="0" err="1"/>
              <a:t>CardFactory</a:t>
            </a:r>
            <a:r>
              <a:rPr lang="ru-RU" baseline="0" dirty="0"/>
              <a:t>»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286526-F0ED-4506-B36C-96EAE6EA1894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300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</a:t>
            </a:r>
            <a:r>
              <a:rPr lang="ru-RU" baseline="0" dirty="0"/>
              <a:t>я начала стоит поговорить о поставленной задаче. </a:t>
            </a:r>
            <a:endParaRPr lang="en-US" baseline="0" dirty="0"/>
          </a:p>
          <a:p>
            <a:endParaRPr lang="en-US" baseline="0" dirty="0"/>
          </a:p>
          <a:p>
            <a:r>
              <a:rPr lang="ru-RU" baseline="0" dirty="0"/>
              <a:t>Для поддержки прямого управления нам был дан не весь эмбоссер, а только его часть – кардридерный модуль. Управление именно им необходимо было реализовать для выполнения поставленной задачи. </a:t>
            </a:r>
            <a:endParaRPr lang="en-US" baseline="0" dirty="0"/>
          </a:p>
          <a:p>
            <a:endParaRPr lang="en-US" baseline="0" dirty="0"/>
          </a:p>
          <a:p>
            <a:r>
              <a:rPr lang="ru-RU" baseline="0" dirty="0"/>
              <a:t>Как вы можете видеть на рисунке слева, сам модуль состоит из трех четко разделяемых компонентов: блока питания, управляющей платы и кардридеров. Саму управляющую плату вы видите на рисунке справа, все взаимодействие будет осуществляться именно с ней.</a:t>
            </a:r>
          </a:p>
          <a:p>
            <a:endParaRPr lang="ru-RU" baseline="0" dirty="0"/>
          </a:p>
          <a:p>
            <a:r>
              <a:rPr lang="ru-RU" baseline="0" dirty="0"/>
              <a:t>Стоит упомянуть, что кардридером является устройство, которое соединяется с чипом пластиковой карты и предоставляет аппаратный интерфейс взаимодействия с ней, одним словом позволяет взаимодействовать с ней программными средствами с помощью подключенной к нему ЭВМ. Эмбоссер же представляет из себя сложный технический комплекс, состоящий из большого количества модулей и задачей которого является персонализация бансковских карт.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286526-F0ED-4506-B36C-96EAE6EA1894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97774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Конечно, существуют и текущие решения по персонализации банковских карт с помощью эмбоссеров </a:t>
            </a:r>
            <a:r>
              <a:rPr lang="en-US" dirty="0"/>
              <a:t>MATICA.</a:t>
            </a:r>
            <a:r>
              <a:rPr lang="en-US" baseline="0" dirty="0"/>
              <a:t> </a:t>
            </a:r>
            <a:r>
              <a:rPr lang="ru-RU" baseline="0" dirty="0"/>
              <a:t>На данной схеме вы можете видеть такой процесс. Карты загружаются в эмбоссер</a:t>
            </a:r>
            <a:r>
              <a:rPr lang="en-US" baseline="0" dirty="0"/>
              <a:t>,</a:t>
            </a:r>
            <a:r>
              <a:rPr lang="ru-RU" baseline="0" dirty="0"/>
              <a:t> после чего запускается специализированное ПО </a:t>
            </a:r>
            <a:r>
              <a:rPr lang="en-US" baseline="0" dirty="0" err="1"/>
              <a:t>Matcard</a:t>
            </a:r>
            <a:r>
              <a:rPr lang="en-US" baseline="0" dirty="0"/>
              <a:t> PRO, </a:t>
            </a:r>
            <a:r>
              <a:rPr lang="ru-RU" baseline="0" dirty="0"/>
              <a:t>которое подключается к эмбоссеру, и </a:t>
            </a:r>
            <a:r>
              <a:rPr lang="en-US" baseline="0" dirty="0" err="1"/>
              <a:t>TranzWare</a:t>
            </a:r>
            <a:r>
              <a:rPr lang="en-US" baseline="0" dirty="0"/>
              <a:t> </a:t>
            </a:r>
            <a:r>
              <a:rPr lang="en-US" baseline="0" dirty="0" err="1"/>
              <a:t>CardFactory</a:t>
            </a:r>
            <a:r>
              <a:rPr lang="en-US" baseline="0" dirty="0"/>
              <a:t>, </a:t>
            </a:r>
            <a:r>
              <a:rPr lang="ru-RU" baseline="0" dirty="0"/>
              <a:t>которое передает данные для эмбоссирования в </a:t>
            </a:r>
            <a:r>
              <a:rPr lang="en-US" baseline="0" dirty="0" err="1"/>
              <a:t>Maticard</a:t>
            </a:r>
            <a:r>
              <a:rPr lang="en-US" baseline="0" dirty="0"/>
              <a:t> PRO</a:t>
            </a:r>
            <a:r>
              <a:rPr lang="ru-RU" baseline="0" dirty="0"/>
              <a:t>. После завершения </a:t>
            </a:r>
            <a:r>
              <a:rPr lang="en-US" baseline="0" dirty="0" err="1"/>
              <a:t>Maticard</a:t>
            </a:r>
            <a:r>
              <a:rPr lang="ru-RU" baseline="0" dirty="0"/>
              <a:t> эмбоссирует карту и</a:t>
            </a:r>
            <a:r>
              <a:rPr lang="en-US" baseline="0" dirty="0"/>
              <a:t> </a:t>
            </a:r>
            <a:r>
              <a:rPr lang="ru-RU" baseline="0" dirty="0"/>
              <a:t>передает команду </a:t>
            </a:r>
            <a:r>
              <a:rPr lang="en-US" baseline="0" dirty="0" err="1"/>
              <a:t>CardFactory</a:t>
            </a:r>
            <a:r>
              <a:rPr lang="en-US" baseline="0" dirty="0"/>
              <a:t> </a:t>
            </a:r>
            <a:r>
              <a:rPr lang="ru-RU" baseline="0" dirty="0"/>
              <a:t>о том, что процесс был завершен, но так как вариантов связи с кардридерным модулем нету, он был пропущен в эмбоссере и необходимо загрузить карты в отдельный кардридер для записи после завершения эмбоссирования, что замедляет процесс выпуска карт.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286526-F0ED-4506-B36C-96EAE6EA1894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2844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Из</a:t>
            </a:r>
            <a:r>
              <a:rPr lang="ru-RU" baseline="0" dirty="0"/>
              <a:t> приведенных данных мы можем вывести объект, предмет и цель исследования.</a:t>
            </a:r>
          </a:p>
          <a:p>
            <a:endParaRPr lang="ru-RU" baseline="0" dirty="0"/>
          </a:p>
          <a:p>
            <a:r>
              <a:rPr lang="ru-RU" baseline="0" dirty="0"/>
              <a:t>Объектом является процесс записи информации о клиенте банка на чип пластиковой карты через кардридерный модуль эмбоссера </a:t>
            </a:r>
            <a:r>
              <a:rPr lang="en-US" baseline="0" dirty="0"/>
              <a:t>MATICA.</a:t>
            </a:r>
          </a:p>
          <a:p>
            <a:endParaRPr lang="en-US" baseline="0" dirty="0"/>
          </a:p>
          <a:p>
            <a:r>
              <a:rPr lang="ru-RU" baseline="0" dirty="0"/>
              <a:t>Предметом является ПО для настройки обработки карт и осуществления такой обработки и средства взаимодействия с кардридерным модулем</a:t>
            </a:r>
            <a:r>
              <a:rPr lang="en-US" baseline="0" dirty="0"/>
              <a:t>.</a:t>
            </a:r>
          </a:p>
          <a:p>
            <a:endParaRPr lang="en-US" baseline="0" dirty="0"/>
          </a:p>
          <a:p>
            <a:r>
              <a:rPr lang="ru-RU" baseline="0" dirty="0"/>
              <a:t>Целью работы является обеспечение работы </a:t>
            </a:r>
            <a:r>
              <a:rPr lang="en-US" baseline="0" dirty="0" err="1"/>
              <a:t>TranzWare</a:t>
            </a:r>
            <a:r>
              <a:rPr lang="en-US" baseline="0" dirty="0"/>
              <a:t> </a:t>
            </a:r>
            <a:r>
              <a:rPr lang="en-US" baseline="0" dirty="0" err="1"/>
              <a:t>CardFactory</a:t>
            </a:r>
            <a:r>
              <a:rPr lang="en-US" baseline="0" dirty="0"/>
              <a:t> </a:t>
            </a:r>
            <a:r>
              <a:rPr lang="ru-RU" baseline="0" dirty="0"/>
              <a:t>с представленным кардридерным модулем.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286526-F0ED-4506-B36C-96EAE6EA1894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5167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Задачами исследования являются</a:t>
            </a:r>
            <a:endParaRPr lang="ru-RU" baseline="0" dirty="0"/>
          </a:p>
          <a:p>
            <a:endParaRPr lang="ru-RU" baseline="0" dirty="0"/>
          </a:p>
          <a:p>
            <a:pPr marL="171450" indent="-171450">
              <a:buFontTx/>
              <a:buChar char="-"/>
            </a:pPr>
            <a:r>
              <a:rPr lang="ru-RU" baseline="0" dirty="0"/>
              <a:t>Провести анализ методов взаимодействия с кардридерным модулем эмбоссера.</a:t>
            </a:r>
          </a:p>
          <a:p>
            <a:pPr marL="171450" indent="-171450">
              <a:buFontTx/>
              <a:buChar char="-"/>
            </a:pPr>
            <a:r>
              <a:rPr lang="ru-RU" baseline="0" dirty="0"/>
              <a:t>Провести анализ возможностей платформы </a:t>
            </a:r>
            <a:r>
              <a:rPr lang="en-US" baseline="0" dirty="0" err="1"/>
              <a:t>FloraWare</a:t>
            </a:r>
            <a:r>
              <a:rPr lang="en-US" baseline="0" dirty="0"/>
              <a:t> </a:t>
            </a:r>
            <a:r>
              <a:rPr lang="ru-RU" baseline="0" dirty="0"/>
              <a:t>и продукта </a:t>
            </a:r>
            <a:r>
              <a:rPr lang="en-US" baseline="0" dirty="0" err="1"/>
              <a:t>TranzWare</a:t>
            </a:r>
            <a:r>
              <a:rPr lang="en-US" baseline="0" dirty="0"/>
              <a:t> </a:t>
            </a:r>
            <a:r>
              <a:rPr lang="en-US" baseline="0" dirty="0" err="1"/>
              <a:t>CardFactory</a:t>
            </a:r>
            <a:r>
              <a:rPr lang="en-US" baseline="0" dirty="0"/>
              <a:t>, </a:t>
            </a:r>
            <a:r>
              <a:rPr lang="ru-RU" baseline="0" dirty="0"/>
              <a:t>разработанного на ее основе.</a:t>
            </a:r>
          </a:p>
          <a:p>
            <a:pPr marL="171450" indent="-171450">
              <a:buFontTx/>
              <a:buChar char="-"/>
            </a:pPr>
            <a:r>
              <a:rPr lang="ru-RU" baseline="0" dirty="0"/>
              <a:t>Описать проектное решение для поставленной задачи</a:t>
            </a:r>
          </a:p>
          <a:p>
            <a:pPr marL="171450" indent="-171450">
              <a:buFontTx/>
              <a:buChar char="-"/>
            </a:pPr>
            <a:r>
              <a:rPr lang="ru-RU" baseline="0" dirty="0"/>
              <a:t>Получить результаты опытной эксплуатации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286526-F0ED-4506-B36C-96EAE6EA1894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6183941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Далее</a:t>
            </a:r>
            <a:r>
              <a:rPr lang="ru-RU" baseline="0" dirty="0"/>
              <a:t> рассмотрим </a:t>
            </a:r>
            <a:r>
              <a:rPr lang="ru-RU" dirty="0"/>
              <a:t>разработанный на</a:t>
            </a:r>
            <a:r>
              <a:rPr lang="ru-RU" baseline="0" dirty="0"/>
              <a:t> базе </a:t>
            </a:r>
            <a:r>
              <a:rPr lang="en-US" baseline="0" dirty="0" err="1"/>
              <a:t>FloraWare</a:t>
            </a:r>
            <a:r>
              <a:rPr lang="en-US" baseline="0" dirty="0"/>
              <a:t> </a:t>
            </a:r>
            <a:r>
              <a:rPr lang="ru-RU" baseline="0" dirty="0"/>
              <a:t>продукт </a:t>
            </a:r>
            <a:r>
              <a:rPr lang="en-US" baseline="0" dirty="0" err="1"/>
              <a:t>CardFactory</a:t>
            </a:r>
            <a:r>
              <a:rPr lang="ru-RU" baseline="0" dirty="0"/>
              <a:t>. Он позволяет предварительно настраивать обработку банковских карт и хранить эти настройки. Каждая такая настройка зовется карточным продуктом. Каждый карточный продукт состоит из набора модулей, которым соответствуют аналогичные по названиям модули настроек и обработки. На этапе настройки продукта используются модули настроек, настроенные параметры из которых записываются в файлы или базу данных. При запуске обработки карточного продукта, поочередно запускаются соответствующие модули обработки, которые берут настройки из необходимых расположений и производят действия, закрепленные за ними, такие как подгрузка данных из файлов</a:t>
            </a:r>
            <a:r>
              <a:rPr lang="en-US" baseline="0" dirty="0"/>
              <a:t>, </a:t>
            </a:r>
            <a:r>
              <a:rPr lang="ru-RU" baseline="0" dirty="0"/>
              <a:t>обработка данных карты и т.д. Именно модуль обработки </a:t>
            </a:r>
            <a:r>
              <a:rPr lang="en-US" baseline="0" dirty="0" err="1"/>
              <a:t>ChipWriterDriver</a:t>
            </a:r>
            <a:r>
              <a:rPr lang="ru-RU" baseline="0" dirty="0"/>
              <a:t> будет подгружать разработанный драйвер для осущесвления записи информации о клиенте на чип пластиковой карты.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286526-F0ED-4506-B36C-96EAE6EA1894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09875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Вернемся к</a:t>
            </a:r>
            <a:r>
              <a:rPr lang="ru-RU" baseline="0" dirty="0"/>
              <a:t> эмбоссеру. Его кардридерный модуль подключается к управляющей ЭВМ через внутреннюю сеть или же напрямую через порт </a:t>
            </a:r>
            <a:r>
              <a:rPr lang="en-US" baseline="0" dirty="0"/>
              <a:t>Ethernet. </a:t>
            </a:r>
            <a:r>
              <a:rPr lang="ru-RU" baseline="0" dirty="0"/>
              <a:t>К самому кардридерному модулю обязательно нужно обращаться по зарезервированным в нем адресам. У модуля есть базовый адрес – адрес управляющей платы. Также, у каждого подключенного к модулю ридера имеется свой адрес, который отсчитывается от базового. Адрес каждого ридера можно вычислить путем добавления номера ридера к младшему байту адреса.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286526-F0ED-4506-B36C-96EAE6EA1894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956659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Общая схема взаимодействия </a:t>
            </a:r>
            <a:r>
              <a:rPr lang="en-US" dirty="0" err="1"/>
              <a:t>CardFactory</a:t>
            </a:r>
            <a:r>
              <a:rPr lang="ru-RU" baseline="0" dirty="0"/>
              <a:t> с эмбоссером должна выглядеть следующим образом. </a:t>
            </a:r>
            <a:r>
              <a:rPr lang="en-US" baseline="0" dirty="0" err="1"/>
              <a:t>CardFactory</a:t>
            </a:r>
            <a:r>
              <a:rPr lang="en-US" baseline="0" dirty="0"/>
              <a:t> </a:t>
            </a:r>
            <a:r>
              <a:rPr lang="ru-RU" baseline="0" dirty="0"/>
              <a:t>записывает данные для эмбоссирования карт в базу данных, после чего</a:t>
            </a:r>
            <a:r>
              <a:rPr lang="en-US" baseline="0" dirty="0"/>
              <a:t> </a:t>
            </a:r>
            <a:r>
              <a:rPr lang="ru-RU" baseline="0" dirty="0"/>
              <a:t>внутри </a:t>
            </a:r>
            <a:r>
              <a:rPr lang="en-US" baseline="0" dirty="0" err="1"/>
              <a:t>Maticard</a:t>
            </a:r>
            <a:r>
              <a:rPr lang="en-US" baseline="0" dirty="0"/>
              <a:t> PRO</a:t>
            </a:r>
            <a:r>
              <a:rPr lang="ru-RU" baseline="0" dirty="0"/>
              <a:t> запускается обработка и прерывается, когда наступает этап обработки чипа карты. Видите ли, внутри </a:t>
            </a:r>
            <a:r>
              <a:rPr lang="en-US" baseline="0" dirty="0" err="1"/>
              <a:t>Maticard</a:t>
            </a:r>
            <a:r>
              <a:rPr lang="en-US" baseline="0" dirty="0"/>
              <a:t> </a:t>
            </a:r>
            <a:r>
              <a:rPr lang="ru-RU" baseline="0" dirty="0"/>
              <a:t>возможно передать управление этапом обработки сторонней библиотеке. В данном случае нашими разработчиками была написана такая библиотека </a:t>
            </a:r>
            <a:r>
              <a:rPr lang="en-US" baseline="0" dirty="0" err="1"/>
              <a:t>dll</a:t>
            </a:r>
            <a:r>
              <a:rPr lang="ru-RU" baseline="0" dirty="0"/>
              <a:t>.</a:t>
            </a:r>
            <a:r>
              <a:rPr lang="en-US" baseline="0" dirty="0"/>
              <a:t> </a:t>
            </a:r>
            <a:r>
              <a:rPr lang="ru-RU" baseline="0" dirty="0"/>
              <a:t>Она связывается с </a:t>
            </a:r>
            <a:r>
              <a:rPr lang="en-US" baseline="0" dirty="0" err="1"/>
              <a:t>CardFactory</a:t>
            </a:r>
            <a:r>
              <a:rPr lang="ru-RU" baseline="0" dirty="0"/>
              <a:t>, который находится в процессе ожидания сообщения,</a:t>
            </a:r>
            <a:r>
              <a:rPr lang="en-US" baseline="0" dirty="0"/>
              <a:t> </a:t>
            </a:r>
            <a:r>
              <a:rPr lang="ru-RU" baseline="0" dirty="0"/>
              <a:t>через специальный </a:t>
            </a:r>
            <a:r>
              <a:rPr lang="en-US" baseline="0" dirty="0"/>
              <a:t>xml-</a:t>
            </a:r>
            <a:r>
              <a:rPr lang="ru-RU" baseline="0" dirty="0"/>
              <a:t>файл обмена, сигнализируя начало обработки чипа. В этот момент запускается драйвер записи карты, который использует функции драйвера </a:t>
            </a:r>
            <a:r>
              <a:rPr lang="en-US" baseline="0" dirty="0"/>
              <a:t>MATICA </a:t>
            </a:r>
            <a:r>
              <a:rPr lang="ru-RU" baseline="0" dirty="0"/>
              <a:t>для отправки данных на кардридерный модуль и получения сообщений от карты. После окончания записи модуль обработки чипа послает </a:t>
            </a:r>
            <a:r>
              <a:rPr lang="en-US" baseline="0" dirty="0"/>
              <a:t>xml-</a:t>
            </a:r>
            <a:r>
              <a:rPr lang="ru-RU" baseline="0" dirty="0"/>
              <a:t>сообщение в файл о завершении, отчего </a:t>
            </a:r>
            <a:r>
              <a:rPr lang="en-US" baseline="0" dirty="0" err="1"/>
              <a:t>Maticard</a:t>
            </a:r>
            <a:r>
              <a:rPr lang="ru-RU" baseline="0" dirty="0"/>
              <a:t> завершает обработку текущего модуля и</a:t>
            </a:r>
            <a:r>
              <a:rPr lang="en-US" baseline="0" dirty="0"/>
              <a:t> </a:t>
            </a:r>
            <a:r>
              <a:rPr lang="ru-RU" baseline="0" dirty="0"/>
              <a:t>продолжает работу.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286526-F0ED-4506-B36C-96EAE6EA1894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051718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44C7B9-4212-5EE1-1179-61C0B8FC63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34E8812-99EF-0D16-E695-FE771CC8E78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77139A8-4188-190D-214D-AFB6925521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Проектное решение драйвера состояло из нескольких компонентов. Первым необходимым компонентом была переработка логики запуска модуля обработки </a:t>
            </a:r>
            <a:r>
              <a:rPr lang="en-US" dirty="0" err="1"/>
              <a:t>ChipWriterDriver</a:t>
            </a:r>
            <a:r>
              <a:rPr lang="en-US" dirty="0"/>
              <a:t>, </a:t>
            </a:r>
            <a:r>
              <a:rPr lang="ru-RU" dirty="0"/>
              <a:t>который отвечает за запись информации на чип карты. Сам модуль запускается функцией </a:t>
            </a:r>
            <a:r>
              <a:rPr lang="en-US" dirty="0"/>
              <a:t>Start(), </a:t>
            </a:r>
            <a:r>
              <a:rPr lang="ru-RU" dirty="0"/>
              <a:t>когда он подгружается вызывающим приложением </a:t>
            </a:r>
            <a:r>
              <a:rPr lang="en-US" dirty="0" err="1"/>
              <a:t>CardFactory</a:t>
            </a:r>
            <a:r>
              <a:rPr lang="ru-RU" dirty="0"/>
              <a:t>. Внутри происходит предварительная подгрузка настроек в зависимости от выбранного типа кардридера, а также запуск всех основных компонентов модуля. К тому же, при выборе многопоточного режима записи, выполняется функция </a:t>
            </a:r>
            <a:r>
              <a:rPr lang="en-US" dirty="0" err="1"/>
              <a:t>StartReaderInterfaces</a:t>
            </a:r>
            <a:r>
              <a:rPr lang="en-US" dirty="0"/>
              <a:t>(), </a:t>
            </a:r>
            <a:r>
              <a:rPr lang="ru-RU" dirty="0"/>
              <a:t>которая создает в дереве </a:t>
            </a:r>
            <a:r>
              <a:rPr lang="en-US" dirty="0" err="1"/>
              <a:t>ChipWriterDriver</a:t>
            </a:r>
            <a:r>
              <a:rPr lang="en-US" dirty="0"/>
              <a:t> </a:t>
            </a:r>
            <a:r>
              <a:rPr lang="ru-RU" dirty="0"/>
              <a:t>отдельные разделы-инстанции, в которые добавляются драйвер записи карты и драйвер кардридера с настройками. После создания каждой инстанции функция запускает ее работу запуская объект-задачу, работа которой сразу же выделяется в отдельный поток. Данная задача производит предварительную подготовку и запускает функцию </a:t>
            </a:r>
            <a:r>
              <a:rPr lang="en-US" dirty="0"/>
              <a:t>Personalization() </a:t>
            </a:r>
            <a:r>
              <a:rPr lang="ru-RU" dirty="0"/>
              <a:t>в драйвере записи, которая посредством функций кардридерного драйвера записывает информацию на карту.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DDD4540-EBD4-B50F-4573-74386C65C79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286526-F0ED-4506-B36C-96EAE6EA1894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1661913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Для связи с кардридерным модулем используется протокол </a:t>
            </a:r>
            <a:r>
              <a:rPr lang="en-US" dirty="0"/>
              <a:t>TCP/IP. </a:t>
            </a:r>
            <a:r>
              <a:rPr lang="ru-RU" dirty="0"/>
              <a:t>По нему модулю передаются команды в виде строки текста, в которой содержится код на специальном языке программирования </a:t>
            </a:r>
            <a:r>
              <a:rPr lang="en-US" dirty="0" err="1"/>
              <a:t>TCPScript</a:t>
            </a:r>
            <a:r>
              <a:rPr lang="en-US" dirty="0"/>
              <a:t>. </a:t>
            </a:r>
            <a:r>
              <a:rPr lang="ru-RU" dirty="0"/>
              <a:t>При получении команды управляющая плата анализирует код в строке и выполняет его. Если команды посылаются по адресу определенного ридера, то команда все равно выполняется именно управляющей платой, но при этом если код будет содержать какие-либо команды управления кардридером, при этом будет учитваться выбранный по адресу ридер. Ответ на команды всегда приходит также в виде строки символов, которая передается драйвером </a:t>
            </a:r>
            <a:r>
              <a:rPr lang="en-US" dirty="0"/>
              <a:t>MATICA </a:t>
            </a:r>
            <a:r>
              <a:rPr lang="ru-RU" dirty="0"/>
              <a:t>драйверу записи карты, который уже в свою очередь принимает решение о том, продолжить запись или прервать</a:t>
            </a:r>
            <a:r>
              <a:rPr lang="en-US" dirty="0"/>
              <a:t> </a:t>
            </a:r>
            <a:r>
              <a:rPr lang="ru-RU" dirty="0"/>
              <a:t>ее по ошибке.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86526-F0ED-4506-B36C-96EAE6EA1894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57967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73211-DE71-5E26-1C70-5F6526FFE3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DA65255-6538-44E6-FD74-B8121AFF84E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F62D79F-2378-EE38-1237-390D4EC47A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Конечно, существуют и текущие решения по персонализации банковских карт с помощью эмбоссеров </a:t>
            </a:r>
            <a:r>
              <a:rPr lang="en-US" dirty="0"/>
              <a:t>MATICA.</a:t>
            </a:r>
            <a:r>
              <a:rPr lang="en-US" baseline="0" dirty="0"/>
              <a:t> </a:t>
            </a:r>
            <a:r>
              <a:rPr lang="ru-RU" baseline="0" dirty="0"/>
              <a:t>На данной схеме вы можете видеть такой процесс. Карты загружаются в эмбоссер</a:t>
            </a:r>
            <a:r>
              <a:rPr lang="en-US" baseline="0" dirty="0"/>
              <a:t>,</a:t>
            </a:r>
            <a:r>
              <a:rPr lang="ru-RU" baseline="0" dirty="0"/>
              <a:t> после чего запускается специализированное ПО </a:t>
            </a:r>
            <a:r>
              <a:rPr lang="en-US" baseline="0" dirty="0" err="1"/>
              <a:t>Matcard</a:t>
            </a:r>
            <a:r>
              <a:rPr lang="en-US" baseline="0" dirty="0"/>
              <a:t> PRO, </a:t>
            </a:r>
            <a:r>
              <a:rPr lang="ru-RU" baseline="0" dirty="0"/>
              <a:t>которое подключается к эмбоссеру, и </a:t>
            </a:r>
            <a:r>
              <a:rPr lang="en-US" baseline="0" dirty="0" err="1"/>
              <a:t>TranzWare</a:t>
            </a:r>
            <a:r>
              <a:rPr lang="en-US" baseline="0" dirty="0"/>
              <a:t> </a:t>
            </a:r>
            <a:r>
              <a:rPr lang="en-US" baseline="0" dirty="0" err="1"/>
              <a:t>CardFactory</a:t>
            </a:r>
            <a:r>
              <a:rPr lang="en-US" baseline="0" dirty="0"/>
              <a:t>, </a:t>
            </a:r>
            <a:r>
              <a:rPr lang="ru-RU" baseline="0" dirty="0"/>
              <a:t>которое передает данные для эмбоссирования в </a:t>
            </a:r>
            <a:r>
              <a:rPr lang="en-US" baseline="0" dirty="0" err="1"/>
              <a:t>Maticard</a:t>
            </a:r>
            <a:r>
              <a:rPr lang="en-US" baseline="0" dirty="0"/>
              <a:t> PRO</a:t>
            </a:r>
            <a:r>
              <a:rPr lang="ru-RU" baseline="0" dirty="0"/>
              <a:t>. После завершения </a:t>
            </a:r>
            <a:r>
              <a:rPr lang="en-US" baseline="0" dirty="0" err="1"/>
              <a:t>Maticard</a:t>
            </a:r>
            <a:r>
              <a:rPr lang="ru-RU" baseline="0" dirty="0"/>
              <a:t> эмбоссирует карту и</a:t>
            </a:r>
            <a:r>
              <a:rPr lang="en-US" baseline="0" dirty="0"/>
              <a:t> </a:t>
            </a:r>
            <a:r>
              <a:rPr lang="ru-RU" baseline="0" dirty="0"/>
              <a:t>передает команду </a:t>
            </a:r>
            <a:r>
              <a:rPr lang="en-US" baseline="0" dirty="0" err="1"/>
              <a:t>CardFactory</a:t>
            </a:r>
            <a:r>
              <a:rPr lang="en-US" baseline="0" dirty="0"/>
              <a:t> </a:t>
            </a:r>
            <a:r>
              <a:rPr lang="ru-RU" baseline="0" dirty="0"/>
              <a:t>о том, что процесс был завершен, но так как вариантов связи с кардридерным модулем нету, он был пропущен в эмбоссере и необходимо загрузить карты в отдельный кардридер для записи после завершения эмбоссирования, что замедляет процесс выпуска карт.</a:t>
            </a:r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40FFB1-FF7B-77FA-AF50-985EBDBF3B1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8286526-F0ED-4506-B36C-96EAE6EA1894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3185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По итогам, поставленная цель исследования была достигнута. Полученное проектное решение даст клиентам компании Компас плюс такие преимущества, как:</a:t>
            </a:r>
          </a:p>
          <a:p>
            <a:endParaRPr lang="ru-RU" dirty="0"/>
          </a:p>
          <a:p>
            <a:r>
              <a:rPr lang="ru-RU" dirty="0"/>
              <a:t>-Повышение скорости выпуска карт</a:t>
            </a:r>
          </a:p>
          <a:p>
            <a:r>
              <a:rPr lang="ru-RU" dirty="0"/>
              <a:t>-Отсутствие необходимости прерывать процесс персонализации карты для записи чипа карт, весь процесс будет происходить непрерывно</a:t>
            </a:r>
          </a:p>
          <a:p>
            <a:r>
              <a:rPr lang="ru-RU" dirty="0"/>
              <a:t>-Возможность удаленной работы с кардридерным модулем</a:t>
            </a:r>
          </a:p>
          <a:p>
            <a:r>
              <a:rPr lang="ru-RU" dirty="0"/>
              <a:t>-Возможность настройки кардридерного модуля внутри собственного продукта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86526-F0ED-4506-B36C-96EAE6EA1894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080455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8286526-F0ED-4506-B36C-96EAE6EA1894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4055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A16B55-A083-400A-A53D-83CD673D7AB5}" type="datetime1">
              <a:rPr lang="ru-RU" smtClean="0"/>
              <a:t>14.06.2025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296400" y="6356349"/>
            <a:ext cx="2743200" cy="365125"/>
          </a:xfrm>
        </p:spPr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411935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B2C1C20-8488-406D-BEC1-3EBBFF7F0C88}" type="datetime1">
              <a:rPr lang="ru-RU" smtClean="0"/>
              <a:t>14.06.2025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>
          <a:xfrm>
            <a:off x="9268968" y="6339332"/>
            <a:ext cx="2743200" cy="365125"/>
          </a:xfrm>
        </p:spPr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202198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4FA3E3-1B09-48E4-B3AA-C803D5E16A77}" type="datetime1">
              <a:rPr lang="ru-RU" smtClean="0"/>
              <a:t>14.06.2025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91454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2A63F76-3CA2-4748-A29D-2AB22D0BEB5B}" type="datetime1">
              <a:rPr lang="ru-RU" smtClean="0"/>
              <a:t>14.06.2025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048051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44ED6F-8BE4-4669-B0A3-175B5B131B11}" type="datetime1">
              <a:rPr lang="ru-RU" smtClean="0"/>
              <a:t>14.06.2025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>
          <a:xfrm>
            <a:off x="9259824" y="6357620"/>
            <a:ext cx="2743200" cy="365125"/>
          </a:xfrm>
        </p:spPr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155097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737DC02-F460-4FDC-95DB-DC6352A1EE94}" type="datetime1">
              <a:rPr lang="ru-RU" smtClean="0"/>
              <a:t>14.06.2025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>
          <a:xfrm>
            <a:off x="9235751" y="6356349"/>
            <a:ext cx="2743200" cy="365125"/>
          </a:xfrm>
        </p:spPr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4109957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EB7CF50-D4ED-4F06-9251-EFB3C02E6C46}" type="datetime1">
              <a:rPr lang="ru-RU" smtClean="0"/>
              <a:t>14.06.2025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>
          <a:xfrm>
            <a:off x="9235751" y="6356349"/>
            <a:ext cx="2743200" cy="365125"/>
          </a:xfrm>
        </p:spPr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815335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A48FBA7-1AD2-4D2B-BCA1-27950A33E466}" type="datetime1">
              <a:rPr lang="ru-RU" smtClean="0"/>
              <a:t>14.06.2025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651492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33C2C1-A2CA-49E6-9101-CA7FFB180E53}" type="datetime1">
              <a:rPr lang="ru-RU" smtClean="0"/>
              <a:t>14.06.2025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424211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DC6F81-D76A-46BC-82B2-E452FF2CA9C5}" type="datetime1">
              <a:rPr lang="ru-RU" smtClean="0"/>
              <a:t>14.06.2025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28185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484A5D-C6EA-476C-B204-F5D11ADE9E0C}" type="datetime1">
              <a:rPr lang="ru-RU" smtClean="0"/>
              <a:t>14.06.2025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134547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42239AA-F603-409E-949B-21A349D872FF}" type="datetime1">
              <a:rPr lang="ru-RU" smtClean="0"/>
              <a:t>14.06.2025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92964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71AB917-4A67-459A-ADEA-E0250FA5C43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0054057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1.png"/><Relationship Id="rId4" Type="http://schemas.openxmlformats.org/officeDocument/2006/relationships/image" Target="../media/image5.png"/><Relationship Id="rId9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19.png"/><Relationship Id="rId3" Type="http://schemas.openxmlformats.org/officeDocument/2006/relationships/image" Target="../media/image2.png"/><Relationship Id="rId7" Type="http://schemas.openxmlformats.org/officeDocument/2006/relationships/image" Target="../media/image14.png"/><Relationship Id="rId12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7.png"/><Relationship Id="rId4" Type="http://schemas.openxmlformats.org/officeDocument/2006/relationships/image" Target="../media/image5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18.png"/><Relationship Id="rId4" Type="http://schemas.openxmlformats.org/officeDocument/2006/relationships/image" Target="../media/image20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2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7.png"/><Relationship Id="rId10" Type="http://schemas.openxmlformats.org/officeDocument/2006/relationships/image" Target="../media/image8.png"/><Relationship Id="rId4" Type="http://schemas.openxmlformats.org/officeDocument/2006/relationships/image" Target="../media/image5.png"/><Relationship Id="rId9" Type="http://schemas.openxmlformats.org/officeDocument/2006/relationships/image" Target="../media/image21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1.png"/><Relationship Id="rId5" Type="http://schemas.openxmlformats.org/officeDocument/2006/relationships/image" Target="../media/image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2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5" Type="http://schemas.openxmlformats.org/officeDocument/2006/relationships/image" Target="../media/image10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3" Type="http://schemas.openxmlformats.org/officeDocument/2006/relationships/image" Target="../media/image2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10" Type="http://schemas.openxmlformats.org/officeDocument/2006/relationships/image" Target="../media/image16.png"/><Relationship Id="rId4" Type="http://schemas.openxmlformats.org/officeDocument/2006/relationships/image" Target="../media/image5.png"/><Relationship Id="rId9" Type="http://schemas.openxmlformats.org/officeDocument/2006/relationships/image" Target="../media/image11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3" descr="C:\Users\Андрей\Desktop\1\Безымянный-2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91154" y="-6351"/>
            <a:ext cx="12483153" cy="686435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12"/>
          <p:cNvSpPr>
            <a:spLocks noChangeArrowheads="1"/>
          </p:cNvSpPr>
          <p:nvPr/>
        </p:nvSpPr>
        <p:spPr bwMode="auto">
          <a:xfrm>
            <a:off x="1951630" y="209528"/>
            <a:ext cx="10099343" cy="170168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Font typeface="Arial" panose="020B0604020202020204" pitchFamily="34" charset="0"/>
              <a:buChar char="•"/>
              <a:defRPr sz="3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20000"/>
              </a:spcBef>
              <a:buFont typeface="Arial" panose="020B0604020202020204" pitchFamily="34" charset="0"/>
              <a:buChar char="–"/>
              <a:defRPr sz="28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200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20000"/>
              </a:spcBef>
              <a:buFont typeface="Arial" panose="020B0604020202020204" pitchFamily="34" charset="0"/>
              <a:buChar char="–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20000"/>
              </a:spcBef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Font typeface="Arial" panose="020B0604020202020204" pitchFamily="34" charset="0"/>
              <a:buChar char="»"/>
              <a:defRPr sz="20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600" dirty="0">
                <a:solidFill>
                  <a:srgbClr val="323C8D"/>
                </a:solidFill>
                <a:latin typeface="Century Gothic" panose="020B0502020202020204" pitchFamily="34" charset="0"/>
              </a:rPr>
              <a:t>«</a:t>
            </a: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Министерство образования и науки Российской Федерации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Федеральное государственное бюджетное образовательное учреждение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высшего образования «Магнитогорский государственный технический</a:t>
            </a:r>
          </a:p>
          <a:p>
            <a:pPr algn="ctr" eaLnBrk="1" hangingPunct="1">
              <a:lnSpc>
                <a:spcPct val="150000"/>
              </a:lnSpc>
              <a:spcBef>
                <a:spcPct val="0"/>
              </a:spcBef>
              <a:buFontTx/>
              <a:buNone/>
            </a:pPr>
            <a:r>
              <a:rPr lang="ru-RU" altLang="ru-RU" sz="1800" dirty="0">
                <a:solidFill>
                  <a:srgbClr val="323C8D"/>
                </a:solidFill>
                <a:latin typeface="Century Gothic" panose="020B0502020202020204" pitchFamily="34" charset="0"/>
              </a:rPr>
              <a:t>университет им. Г.И. Носова» </a:t>
            </a:r>
          </a:p>
        </p:txBody>
      </p:sp>
      <p:sp>
        <p:nvSpPr>
          <p:cNvPr id="4" name="Прямоугольник 3"/>
          <p:cNvSpPr/>
          <p:nvPr/>
        </p:nvSpPr>
        <p:spPr>
          <a:xfrm>
            <a:off x="3220871" y="5615001"/>
            <a:ext cx="8461612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solidFill>
                  <a:srgbClr val="323C8D"/>
                </a:solidFill>
                <a:latin typeface="Century Gothic" panose="020B0502020202020204" pitchFamily="34" charset="0"/>
              </a:rPr>
              <a:t>Выполнил: студент группы</a:t>
            </a:r>
            <a:r>
              <a:rPr lang="en-US" altLang="ru-RU" dirty="0">
                <a:solidFill>
                  <a:srgbClr val="323C8D"/>
                </a:solidFill>
                <a:latin typeface="Century Gothic" panose="020B0502020202020204" pitchFamily="34" charset="0"/>
              </a:rPr>
              <a:t> </a:t>
            </a:r>
            <a:r>
              <a:rPr lang="ru-RU" altLang="ru-RU" dirty="0">
                <a:solidFill>
                  <a:srgbClr val="323C8D"/>
                </a:solidFill>
                <a:latin typeface="Century Gothic" panose="020B0502020202020204" pitchFamily="34" charset="0"/>
              </a:rPr>
              <a:t>АВб-21-12                                       Шемякин К. А.</a:t>
            </a:r>
          </a:p>
          <a:p>
            <a:pPr>
              <a:lnSpc>
                <a:spcPct val="150000"/>
              </a:lnSpc>
              <a:spcBef>
                <a:spcPct val="0"/>
              </a:spcBef>
            </a:pPr>
            <a:r>
              <a:rPr lang="ru-RU" altLang="ru-RU" dirty="0">
                <a:solidFill>
                  <a:srgbClr val="323C8D"/>
                </a:solidFill>
                <a:latin typeface="Century Gothic" panose="020B0502020202020204" pitchFamily="34" charset="0"/>
              </a:rPr>
              <a:t>Руководитель: доцент, к.т.н.                                                       Калитаев А. Н.</a:t>
            </a:r>
          </a:p>
        </p:txBody>
      </p:sp>
      <p:sp>
        <p:nvSpPr>
          <p:cNvPr id="5" name="Содержимое 9"/>
          <p:cNvSpPr txBox="1">
            <a:spLocks/>
          </p:cNvSpPr>
          <p:nvPr/>
        </p:nvSpPr>
        <p:spPr>
          <a:xfrm>
            <a:off x="1793189" y="2431745"/>
            <a:ext cx="10257784" cy="2579426"/>
          </a:xfrm>
          <a:prstGeom prst="rect">
            <a:avLst/>
          </a:prstGeom>
        </p:spPr>
        <p:txBody>
          <a:bodyPr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lnSpc>
                <a:spcPct val="110000"/>
              </a:lnSpc>
              <a:buFont typeface="Arial" panose="020B0604020202020204" pitchFamily="34" charset="0"/>
              <a:buNone/>
              <a:defRPr/>
            </a:pPr>
            <a:r>
              <a:rPr lang="ru-RU" sz="4000" b="1" cap="all" dirty="0">
                <a:solidFill>
                  <a:srgbClr val="323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Разработка программной библиотеки для осуществления прямого управления эмбоссером </a:t>
            </a:r>
            <a:r>
              <a:rPr lang="en-US" sz="4000" b="1" cap="all" dirty="0">
                <a:solidFill>
                  <a:srgbClr val="323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MATICA</a:t>
            </a:r>
            <a:r>
              <a:rPr lang="ru-RU" sz="4000" b="1" cap="all" dirty="0">
                <a:solidFill>
                  <a:srgbClr val="323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через </a:t>
            </a:r>
            <a:r>
              <a:rPr lang="en-US" sz="4000" b="1" cap="all" dirty="0" err="1">
                <a:solidFill>
                  <a:srgbClr val="323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TranzWare</a:t>
            </a:r>
            <a:r>
              <a:rPr lang="en-US" sz="4000" b="1" cap="all" dirty="0">
                <a:solidFill>
                  <a:srgbClr val="323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lang="en-US" sz="4000" b="1" cap="all" dirty="0" err="1">
                <a:solidFill>
                  <a:srgbClr val="323C8D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CardFactory</a:t>
            </a:r>
            <a:endParaRPr lang="ru-RU" sz="4000" dirty="0"/>
          </a:p>
        </p:txBody>
      </p:sp>
    </p:spTree>
    <p:extLst>
      <p:ext uri="{BB962C8B-B14F-4D97-AF65-F5344CB8AC3E}">
        <p14:creationId xmlns:p14="http://schemas.microsoft.com/office/powerpoint/2010/main" val="224279973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351128" y="6141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2743960" y="106406"/>
            <a:ext cx="670407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40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Компоненты эмбоссера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1675" y="1696995"/>
            <a:ext cx="3790949" cy="5054599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40933" y="1696994"/>
            <a:ext cx="3790950" cy="5054599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837416" y="1016230"/>
            <a:ext cx="42794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Century Gothic" panose="020B0502020202020204" pitchFamily="34" charset="0"/>
              </a:rPr>
              <a:t>Полный набор компонентов кардридерного модуля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96675" y="1156772"/>
            <a:ext cx="42794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Century Gothic" panose="020B0502020202020204" pitchFamily="34" charset="0"/>
              </a:rPr>
              <a:t>Управляющая плата модуля</a:t>
            </a:r>
            <a:endParaRPr lang="en-US" dirty="0">
              <a:latin typeface="Century Gothic" panose="020B0502020202020204" pitchFamily="34" charset="0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B681E75-F451-29DC-EDB0-DE997F6E7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87494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0442B-81D0-2CC2-2C93-1F8DD98A2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>
            <a:extLst>
              <a:ext uri="{FF2B5EF4-FFF2-40B4-BE49-F238E27FC236}">
                <a16:creationId xmlns:a16="http://schemas.microsoft.com/office/drawing/2014/main" id="{E803902E-49A7-2FBD-5D9C-0949DC18B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71653D-E9BB-89C3-69DA-1561D491E805}"/>
              </a:ext>
            </a:extLst>
          </p:cNvPr>
          <p:cNvSpPr txBox="1"/>
          <p:nvPr/>
        </p:nvSpPr>
        <p:spPr>
          <a:xfrm>
            <a:off x="3534770" y="4503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360129-C4CE-D333-BA85-69C53682DF73}"/>
              </a:ext>
            </a:extLst>
          </p:cNvPr>
          <p:cNvSpPr txBox="1"/>
          <p:nvPr/>
        </p:nvSpPr>
        <p:spPr>
          <a:xfrm>
            <a:off x="2649582" y="104186"/>
            <a:ext cx="690285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Анализ текущих решений</a:t>
            </a:r>
          </a:p>
        </p:txBody>
      </p:sp>
      <p:grpSp>
        <p:nvGrpSpPr>
          <p:cNvPr id="3" name="Group 2"/>
          <p:cNvGrpSpPr/>
          <p:nvPr/>
        </p:nvGrpSpPr>
        <p:grpSpPr>
          <a:xfrm>
            <a:off x="3474247" y="1062078"/>
            <a:ext cx="1785431" cy="2270345"/>
            <a:chOff x="848488" y="2995177"/>
            <a:chExt cx="1785431" cy="227034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C815F1-FBB0-AD9F-28E7-EBBFBCD17690}"/>
                </a:ext>
              </a:extLst>
            </p:cNvPr>
            <p:cNvSpPr txBox="1"/>
            <p:nvPr/>
          </p:nvSpPr>
          <p:spPr>
            <a:xfrm>
              <a:off x="848488" y="4557636"/>
              <a:ext cx="178543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entury Gothic" panose="020B0502020202020204" pitchFamily="34" charset="0"/>
                </a:rPr>
                <a:t>TranzWare</a:t>
              </a:r>
              <a:r>
                <a:rPr lang="en-US" sz="2000" dirty="0">
                  <a:latin typeface="Century Gothic" panose="020B0502020202020204" pitchFamily="34" charset="0"/>
                </a:rPr>
                <a:t> </a:t>
              </a:r>
              <a:r>
                <a:rPr lang="en-US" sz="2000" dirty="0" err="1">
                  <a:latin typeface="Century Gothic" panose="020B0502020202020204" pitchFamily="34" charset="0"/>
                </a:rPr>
                <a:t>CardFactory</a:t>
              </a:r>
              <a:endParaRPr lang="ru-RU" sz="2000" dirty="0">
                <a:latin typeface="Century Gothic" panose="020B0502020202020204" pitchFamily="34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93C95EF-83CE-0DAD-3681-7C34EA3DF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936" y="2995177"/>
              <a:ext cx="1496533" cy="1562459"/>
            </a:xfrm>
            <a:prstGeom prst="rect">
              <a:avLst/>
            </a:prstGeom>
          </p:spPr>
        </p:pic>
      </p:grpSp>
      <p:grpSp>
        <p:nvGrpSpPr>
          <p:cNvPr id="11" name="Group 10"/>
          <p:cNvGrpSpPr/>
          <p:nvPr/>
        </p:nvGrpSpPr>
        <p:grpSpPr>
          <a:xfrm>
            <a:off x="6339265" y="5008619"/>
            <a:ext cx="1959959" cy="1849381"/>
            <a:chOff x="8567446" y="2815761"/>
            <a:chExt cx="1959959" cy="184938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EE87BB1-2774-44E0-9E86-AF7136B2D810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7446" y="2815761"/>
              <a:ext cx="1959959" cy="106815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68C815F1-FBB0-AD9F-28E7-EBBFBCD17690}"/>
                </a:ext>
              </a:extLst>
            </p:cNvPr>
            <p:cNvSpPr txBox="1"/>
            <p:nvPr/>
          </p:nvSpPr>
          <p:spPr>
            <a:xfrm>
              <a:off x="8654709" y="3957256"/>
              <a:ext cx="178543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dirty="0">
                  <a:latin typeface="Century Gothic" panose="020B0502020202020204" pitchFamily="34" charset="0"/>
                </a:rPr>
                <a:t>Эмбоссер </a:t>
              </a:r>
              <a:r>
                <a:rPr lang="en-US" sz="2000" dirty="0" err="1">
                  <a:latin typeface="Century Gothic" panose="020B0502020202020204" pitchFamily="34" charset="0"/>
                </a:rPr>
                <a:t>SmartWare</a:t>
              </a:r>
              <a:endParaRPr lang="ru-RU" sz="2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2" name="Group 11"/>
          <p:cNvGrpSpPr/>
          <p:nvPr/>
        </p:nvGrpSpPr>
        <p:grpSpPr>
          <a:xfrm>
            <a:off x="6940310" y="1389503"/>
            <a:ext cx="2144831" cy="1931791"/>
            <a:chOff x="9355402" y="2946927"/>
            <a:chExt cx="2144831" cy="193179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A6BCD99-EF0F-BB81-6E5D-841B9F66F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55402" y="2946927"/>
              <a:ext cx="2144831" cy="156245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DF8824C-45BD-E329-E70B-AF2E073C3BF6}"/>
                </a:ext>
              </a:extLst>
            </p:cNvPr>
            <p:cNvSpPr txBox="1"/>
            <p:nvPr/>
          </p:nvSpPr>
          <p:spPr>
            <a:xfrm>
              <a:off x="9540257" y="4509386"/>
              <a:ext cx="1775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entury Gothic" panose="020B0502020202020204" pitchFamily="34" charset="0"/>
                </a:rPr>
                <a:t>Maticard</a:t>
              </a:r>
              <a:r>
                <a:rPr lang="en-US" dirty="0">
                  <a:latin typeface="Century Gothic" panose="020B0502020202020204" pitchFamily="34" charset="0"/>
                </a:rPr>
                <a:t> PRO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92AAD5D6-671F-46D7-FB4F-FA0542AA49AB}"/>
              </a:ext>
            </a:extLst>
          </p:cNvPr>
          <p:cNvGrpSpPr/>
          <p:nvPr/>
        </p:nvGrpSpPr>
        <p:grpSpPr>
          <a:xfrm rot="16200000">
            <a:off x="3869485" y="3645095"/>
            <a:ext cx="1197406" cy="713418"/>
            <a:chOff x="3051580" y="2997200"/>
            <a:chExt cx="1486171" cy="88546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6223D05A-6CC1-3BB0-56EC-E48ED1372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3051580" y="2997200"/>
              <a:ext cx="1475297" cy="44019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23FE7613-C3BD-ED6E-0B2C-B1B4C6E9D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 flipH="1">
              <a:off x="3062454" y="3442475"/>
              <a:ext cx="1475297" cy="440190"/>
            </a:xfrm>
            <a:prstGeom prst="rect">
              <a:avLst/>
            </a:prstGeom>
          </p:spPr>
        </p:pic>
      </p:grpSp>
      <p:grpSp>
        <p:nvGrpSpPr>
          <p:cNvPr id="31" name="Group 30">
            <a:extLst>
              <a:ext uri="{FF2B5EF4-FFF2-40B4-BE49-F238E27FC236}">
                <a16:creationId xmlns:a16="http://schemas.microsoft.com/office/drawing/2014/main" id="{1BCDE1F2-4856-DB46-81B0-9741872E5801}"/>
              </a:ext>
            </a:extLst>
          </p:cNvPr>
          <p:cNvGrpSpPr/>
          <p:nvPr/>
        </p:nvGrpSpPr>
        <p:grpSpPr>
          <a:xfrm>
            <a:off x="5411530" y="1895788"/>
            <a:ext cx="1368940" cy="815619"/>
            <a:chOff x="6871862" y="1433188"/>
            <a:chExt cx="1486171" cy="88546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223D05A-6CC1-3BB0-56EC-E48ED1372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6871862" y="1433188"/>
              <a:ext cx="1475297" cy="44019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3FE7613-C3BD-ED6E-0B2C-B1B4C6E9D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 flipH="1">
              <a:off x="6882736" y="1878463"/>
              <a:ext cx="1475297" cy="440190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872B8CBA-1FE8-450E-1183-4DF1802B2AF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9462" y="5117406"/>
            <a:ext cx="1810669" cy="1085182"/>
          </a:xfrm>
          <a:prstGeom prst="rect">
            <a:avLst/>
          </a:prstGeom>
        </p:spPr>
      </p:pic>
      <p:grpSp>
        <p:nvGrpSpPr>
          <p:cNvPr id="24" name="Group 23"/>
          <p:cNvGrpSpPr/>
          <p:nvPr/>
        </p:nvGrpSpPr>
        <p:grpSpPr>
          <a:xfrm>
            <a:off x="3474248" y="4591746"/>
            <a:ext cx="1785431" cy="2128878"/>
            <a:chOff x="5808303" y="4460011"/>
            <a:chExt cx="1785431" cy="2128878"/>
          </a:xfrm>
        </p:grpSpPr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723E8D1F-D839-4A4B-B861-F9F72C4136A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281979" y="4460011"/>
              <a:ext cx="838080" cy="1667339"/>
            </a:xfrm>
            <a:prstGeom prst="rect">
              <a:avLst/>
            </a:prstGeom>
          </p:spPr>
        </p:pic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68C815F1-FBB0-AD9F-28E7-EBBFBCD17690}"/>
                </a:ext>
              </a:extLst>
            </p:cNvPr>
            <p:cNvSpPr txBox="1"/>
            <p:nvPr/>
          </p:nvSpPr>
          <p:spPr>
            <a:xfrm>
              <a:off x="5808303" y="6188779"/>
              <a:ext cx="1785431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dirty="0">
                  <a:latin typeface="Century Gothic" panose="020B0502020202020204" pitchFamily="34" charset="0"/>
                </a:rPr>
                <a:t>Кардридер</a:t>
              </a:r>
            </a:p>
          </p:txBody>
        </p:sp>
      </p:grpSp>
      <p:grpSp>
        <p:nvGrpSpPr>
          <p:cNvPr id="27" name="Group 26"/>
          <p:cNvGrpSpPr/>
          <p:nvPr/>
        </p:nvGrpSpPr>
        <p:grpSpPr>
          <a:xfrm rot="5400000">
            <a:off x="7291031" y="3750901"/>
            <a:ext cx="1356940" cy="689302"/>
            <a:chOff x="2071940" y="4941171"/>
            <a:chExt cx="1486171" cy="88546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6223D05A-6CC1-3BB0-56EC-E48ED1372BC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2071940" y="4941171"/>
              <a:ext cx="1475297" cy="44019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23FE7613-C3BD-ED6E-0B2C-B1B4C6E9D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 flipH="1">
              <a:off x="2082814" y="5386446"/>
              <a:ext cx="1475297" cy="440190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6223D05A-6CC1-3BB0-56EC-E48ED1372BC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33978" y="5501982"/>
            <a:ext cx="1349095" cy="365125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59133C89-31B9-47E1-A76D-E40CE3A781D3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802664" y="5301575"/>
            <a:ext cx="2206943" cy="86570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27FF63-928B-2280-D98A-3349AA1806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3</a:t>
            </a:fld>
            <a:endParaRPr lang="ru-RU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B38C4DA5-75FC-DBDC-3386-3EACA6DA3E75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22793" y="5474334"/>
            <a:ext cx="1349095" cy="365125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10DA6D19-172E-1097-C344-DE57B6C64D8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391319" y="5474333"/>
            <a:ext cx="1349095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2217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Прямоугольник 3"/>
          <p:cNvSpPr/>
          <p:nvPr/>
        </p:nvSpPr>
        <p:spPr>
          <a:xfrm>
            <a:off x="668737" y="1407607"/>
            <a:ext cx="10849972" cy="507978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lnSpc>
                <a:spcPct val="120000"/>
              </a:lnSpc>
              <a:defRPr/>
            </a:pPr>
            <a:r>
              <a:rPr lang="ru-RU" altLang="ru-RU" sz="24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Объект</a:t>
            </a:r>
            <a:r>
              <a:rPr lang="ru-RU" altLang="ru-RU" sz="20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20000"/>
              </a:lnSpc>
              <a:defRPr/>
            </a:pP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Процесс записи информации о клиенте банка на чип пластиковой карты через кардридерный модуль эмбоссера </a:t>
            </a:r>
            <a:r>
              <a:rPr lang="en-US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MATICA.</a:t>
            </a: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endParaRPr lang="en-US" altLang="ru-RU" sz="2000" dirty="0">
              <a:latin typeface="Century Gothic" panose="020B0502020202020204" pitchFamily="34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algn="ctr">
              <a:lnSpc>
                <a:spcPct val="120000"/>
              </a:lnSpc>
              <a:defRPr/>
            </a:pPr>
            <a:r>
              <a:rPr lang="ru-RU" altLang="ru-RU" sz="24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Предмет:</a:t>
            </a:r>
          </a:p>
          <a:p>
            <a:pPr algn="just">
              <a:lnSpc>
                <a:spcPct val="120000"/>
              </a:lnSpc>
              <a:defRPr/>
            </a:pP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Информационное и программное обеспечение для обработки карт,</a:t>
            </a:r>
            <a:r>
              <a:rPr lang="en-US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включающей хранение данных настроек, обработку банковских карт средствами эмбоссеров и кардридеров, средства аппаратного и программного взаимодействия с кардридерным модулем эмбоссера </a:t>
            </a:r>
            <a:r>
              <a:rPr lang="en-US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MATICA</a:t>
            </a: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</a:p>
          <a:p>
            <a:pPr algn="ctr">
              <a:lnSpc>
                <a:spcPct val="120000"/>
              </a:lnSpc>
              <a:defRPr/>
            </a:pPr>
            <a:r>
              <a:rPr lang="ru-RU" altLang="ru-RU" sz="2400" b="1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Цель: </a:t>
            </a:r>
          </a:p>
          <a:p>
            <a:pPr algn="just">
              <a:lnSpc>
                <a:spcPct val="120000"/>
              </a:lnSpc>
              <a:defRPr/>
            </a:pP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Автоматизация процесса записи информации о клиенте банка на чип пластиковой карты посредством разрабатываемого модуля программного продукта </a:t>
            </a:r>
            <a:r>
              <a:rPr lang="en-US" altLang="ru-RU" sz="2000" dirty="0" err="1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TranzWare</a:t>
            </a:r>
            <a:r>
              <a:rPr lang="en-US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CardFactory</a:t>
            </a:r>
            <a:r>
              <a:rPr lang="en-US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и использования кардридерного модуля эмбоссера </a:t>
            </a:r>
            <a:r>
              <a:rPr lang="en-US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MATICA.</a:t>
            </a: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70997" y="532263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56721" y="26251"/>
            <a:ext cx="9474005" cy="1012024"/>
          </a:xfrm>
          <a:prstGeom prst="rect">
            <a:avLst/>
          </a:prstGeom>
        </p:spPr>
      </p:pic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0183CE1-4132-EB64-F68F-202B84712A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1117861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Прямоугольник 2"/>
          <p:cNvSpPr/>
          <p:nvPr/>
        </p:nvSpPr>
        <p:spPr>
          <a:xfrm>
            <a:off x="181689" y="860650"/>
            <a:ext cx="11808823" cy="494763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defRPr/>
            </a:pPr>
            <a:r>
              <a:rPr lang="en-US" altLang="ru-RU" sz="24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ru-RU" altLang="ru-RU" sz="21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Для достижения поставленной цели необходимо выполнить следующие задачи: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100" dirty="0">
                <a:latin typeface="Century Gothic" panose="020B0502020202020204" pitchFamily="34" charset="0"/>
              </a:rPr>
              <a:t>Выполнить анализ работы эмбоссера </a:t>
            </a:r>
            <a:r>
              <a:rPr lang="en-US" sz="2100" dirty="0">
                <a:latin typeface="Century Gothic" panose="020B0502020202020204" pitchFamily="34" charset="0"/>
              </a:rPr>
              <a:t>MATICA </a:t>
            </a:r>
            <a:r>
              <a:rPr lang="ru-RU" sz="2100" dirty="0">
                <a:latin typeface="Century Gothic" panose="020B0502020202020204" pitchFamily="34" charset="0"/>
              </a:rPr>
              <a:t>и методов аппаратного и программного взаимодействия с его кардридерным модулем;</a:t>
            </a:r>
            <a:endParaRPr lang="en-US" sz="2100" dirty="0">
              <a:latin typeface="Century Gothic" panose="020B0502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100" dirty="0">
                <a:latin typeface="Century Gothic" panose="020B0502020202020204" pitchFamily="34" charset="0"/>
              </a:rPr>
              <a:t>Провести анализ структуры программного продукта </a:t>
            </a:r>
            <a:r>
              <a:rPr lang="en-US" sz="2100" dirty="0" err="1">
                <a:latin typeface="Century Gothic" panose="020B0502020202020204" pitchFamily="34" charset="0"/>
              </a:rPr>
              <a:t>TranzWare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en-US" sz="2100" dirty="0" err="1">
                <a:latin typeface="Century Gothic" panose="020B0502020202020204" pitchFamily="34" charset="0"/>
              </a:rPr>
              <a:t>CardFactory</a:t>
            </a:r>
            <a:r>
              <a:rPr lang="en-US" sz="2100" dirty="0">
                <a:latin typeface="Century Gothic" panose="020B0502020202020204" pitchFamily="34" charset="0"/>
              </a:rPr>
              <a:t> </a:t>
            </a:r>
            <a:r>
              <a:rPr lang="ru-RU" sz="2100" dirty="0">
                <a:latin typeface="Century Gothic" panose="020B0502020202020204" pitchFamily="34" charset="0"/>
              </a:rPr>
              <a:t>и структуры существующих драйверов кардридеров; </a:t>
            </a:r>
            <a:endParaRPr lang="en-US" sz="2100" dirty="0">
              <a:latin typeface="Century Gothic" panose="020B0502020202020204" pitchFamily="34" charset="0"/>
            </a:endParaRP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100" dirty="0">
                <a:latin typeface="Century Gothic" panose="020B0502020202020204" pitchFamily="34" charset="0"/>
              </a:rPr>
              <a:t>Описать проектное решение для управления кардридерным модулем эмбоссера </a:t>
            </a:r>
            <a:r>
              <a:rPr lang="en-US" sz="2100" dirty="0">
                <a:latin typeface="Century Gothic" panose="020B0502020202020204" pitchFamily="34" charset="0"/>
              </a:rPr>
              <a:t>MATICA;</a:t>
            </a:r>
          </a:p>
          <a:p>
            <a:pPr marL="457200" indent="-457200" algn="just">
              <a:lnSpc>
                <a:spcPct val="150000"/>
              </a:lnSpc>
              <a:buFont typeface="+mj-lt"/>
              <a:buAutoNum type="arabicPeriod"/>
            </a:pPr>
            <a:r>
              <a:rPr lang="ru-RU" sz="2100" dirty="0">
                <a:latin typeface="Century Gothic" panose="020B0502020202020204" pitchFamily="34" charset="0"/>
              </a:rPr>
              <a:t>Получить результаты опытной эксплуатации разработанной программной библиотеки. 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48167" y="38213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pic>
        <p:nvPicPr>
          <p:cNvPr id="6" name="Рисунок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48167" y="60791"/>
            <a:ext cx="5675868" cy="1012024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DB5539A-4771-E7DC-CA78-C9B12090EB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5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0726133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F0442B-81D0-2CC2-2C93-1F8DD98A2E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>
            <a:extLst>
              <a:ext uri="{FF2B5EF4-FFF2-40B4-BE49-F238E27FC236}">
                <a16:creationId xmlns:a16="http://schemas.microsoft.com/office/drawing/2014/main" id="{E803902E-49A7-2FBD-5D9C-0949DC18BC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0971653D-E9BB-89C3-69DA-1561D491E805}"/>
              </a:ext>
            </a:extLst>
          </p:cNvPr>
          <p:cNvSpPr txBox="1"/>
          <p:nvPr/>
        </p:nvSpPr>
        <p:spPr>
          <a:xfrm>
            <a:off x="3534770" y="4503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9360129-C4CE-D333-BA85-69C53682DF73}"/>
              </a:ext>
            </a:extLst>
          </p:cNvPr>
          <p:cNvSpPr txBox="1"/>
          <p:nvPr/>
        </p:nvSpPr>
        <p:spPr>
          <a:xfrm>
            <a:off x="688843" y="129905"/>
            <a:ext cx="1099211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Структурная схема ПО </a:t>
            </a:r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TranzWare</a:t>
            </a:r>
            <a:r>
              <a:rPr lang="en-US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 </a:t>
            </a:r>
            <a:r>
              <a:rPr lang="en-US" sz="3600" dirty="0" err="1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CardFactory</a:t>
            </a:r>
            <a:endParaRPr lang="ru-RU" sz="3600" dirty="0">
              <a:solidFill>
                <a:schemeClr val="bg1">
                  <a:lumMod val="9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entury Gothic" panose="020B0502020202020204" pitchFamily="34" charset="0"/>
            </a:endParaRP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480F7DD-AA32-D0B6-9E2E-D2823D59B24D}"/>
              </a:ext>
            </a:extLst>
          </p:cNvPr>
          <p:cNvGrpSpPr/>
          <p:nvPr/>
        </p:nvGrpSpPr>
        <p:grpSpPr>
          <a:xfrm>
            <a:off x="344335" y="2876939"/>
            <a:ext cx="1785431" cy="2255967"/>
            <a:chOff x="363807" y="1505569"/>
            <a:chExt cx="1785431" cy="2255967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68C815F1-FBB0-AD9F-28E7-EBBFBCD17690}"/>
                </a:ext>
              </a:extLst>
            </p:cNvPr>
            <p:cNvSpPr txBox="1"/>
            <p:nvPr/>
          </p:nvSpPr>
          <p:spPr>
            <a:xfrm>
              <a:off x="363807" y="3053650"/>
              <a:ext cx="178543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entury Gothic" panose="020B0502020202020204" pitchFamily="34" charset="0"/>
                </a:rPr>
                <a:t>TranzWare</a:t>
              </a:r>
              <a:r>
                <a:rPr lang="en-US" sz="2000" dirty="0">
                  <a:latin typeface="Century Gothic" panose="020B0502020202020204" pitchFamily="34" charset="0"/>
                </a:rPr>
                <a:t> </a:t>
              </a:r>
              <a:r>
                <a:rPr lang="en-US" sz="2000" dirty="0" err="1">
                  <a:latin typeface="Century Gothic" panose="020B0502020202020204" pitchFamily="34" charset="0"/>
                </a:rPr>
                <a:t>CardFactory</a:t>
              </a:r>
              <a:endParaRPr lang="ru-RU" sz="2000" dirty="0">
                <a:latin typeface="Century Gothic" panose="020B0502020202020204" pitchFamily="34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093C95EF-83CE-0DAD-3681-7C34EA3DFA5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91582" y="1505569"/>
              <a:ext cx="1496533" cy="1562459"/>
            </a:xfrm>
            <a:prstGeom prst="rect">
              <a:avLst/>
            </a:prstGeom>
          </p:spPr>
        </p:pic>
      </p:grpSp>
      <p:grpSp>
        <p:nvGrpSpPr>
          <p:cNvPr id="3" name="Group 2"/>
          <p:cNvGrpSpPr/>
          <p:nvPr/>
        </p:nvGrpSpPr>
        <p:grpSpPr>
          <a:xfrm>
            <a:off x="2562298" y="1763820"/>
            <a:ext cx="2828765" cy="1275810"/>
            <a:chOff x="3316223" y="1549485"/>
            <a:chExt cx="2828765" cy="1275810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59133C89-31B9-47E1-A76D-E40CE3A781D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627135" y="1549485"/>
              <a:ext cx="2206943" cy="865707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F688B33-993A-A778-16F7-6315C19BA62A}"/>
                </a:ext>
              </a:extLst>
            </p:cNvPr>
            <p:cNvSpPr txBox="1"/>
            <p:nvPr/>
          </p:nvSpPr>
          <p:spPr>
            <a:xfrm>
              <a:off x="3316223" y="2425185"/>
              <a:ext cx="2828765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dirty="0">
                  <a:latin typeface="Century Gothic" panose="020B0502020202020204" pitchFamily="34" charset="0"/>
                </a:rPr>
                <a:t>Карточные продукты</a:t>
              </a:r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A042EECA-B3D1-31CF-3194-7B375F030343}"/>
              </a:ext>
            </a:extLst>
          </p:cNvPr>
          <p:cNvGrpSpPr/>
          <p:nvPr/>
        </p:nvGrpSpPr>
        <p:grpSpPr>
          <a:xfrm>
            <a:off x="2562785" y="3251851"/>
            <a:ext cx="2828765" cy="2194625"/>
            <a:chOff x="3581874" y="3169048"/>
            <a:chExt cx="2828765" cy="2194625"/>
          </a:xfrm>
        </p:grpSpPr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A922DFC1-2A46-794C-69A1-1717CEF2A71D}"/>
                </a:ext>
              </a:extLst>
            </p:cNvPr>
            <p:cNvSpPr/>
            <p:nvPr/>
          </p:nvSpPr>
          <p:spPr>
            <a:xfrm>
              <a:off x="3581874" y="3169048"/>
              <a:ext cx="2828765" cy="2194625"/>
            </a:xfrm>
            <a:prstGeom prst="rect">
              <a:avLst/>
            </a:prstGeom>
            <a:noFill/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3818391" y="3354408"/>
              <a:ext cx="2465399" cy="181588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457200" indent="-457200">
                <a:buFont typeface="Century Gothic" panose="020B0502020202020204" pitchFamily="34" charset="0"/>
                <a:buChar char="―"/>
              </a:pPr>
              <a:r>
                <a:rPr lang="ru-RU" sz="2800" dirty="0">
                  <a:latin typeface="Century Gothic" panose="020B0502020202020204" pitchFamily="34" charset="0"/>
                </a:rPr>
                <a:t>Модуль 1</a:t>
              </a:r>
            </a:p>
            <a:p>
              <a:pPr marL="457200" indent="-457200">
                <a:buFont typeface="Century Gothic" panose="020B0502020202020204" pitchFamily="34" charset="0"/>
                <a:buChar char="―"/>
              </a:pPr>
              <a:r>
                <a:rPr lang="ru-RU" sz="2800" dirty="0">
                  <a:latin typeface="Century Gothic" panose="020B0502020202020204" pitchFamily="34" charset="0"/>
                </a:rPr>
                <a:t>Модуль </a:t>
              </a:r>
              <a:r>
                <a:rPr lang="en-US" sz="2800" dirty="0">
                  <a:latin typeface="Century Gothic" panose="020B0502020202020204" pitchFamily="34" charset="0"/>
                </a:rPr>
                <a:t>2</a:t>
              </a:r>
              <a:endParaRPr lang="ru-RU" sz="2800" dirty="0">
                <a:latin typeface="Century Gothic" panose="020B0502020202020204" pitchFamily="34" charset="0"/>
              </a:endParaRPr>
            </a:p>
            <a:p>
              <a:pPr marL="457200" indent="-457200">
                <a:buFont typeface="Century Gothic" panose="020B0502020202020204" pitchFamily="34" charset="0"/>
                <a:buChar char="―"/>
              </a:pPr>
              <a:r>
                <a:rPr lang="ru-RU" sz="2800" dirty="0">
                  <a:latin typeface="Century Gothic" panose="020B0502020202020204" pitchFamily="34" charset="0"/>
                </a:rPr>
                <a:t>...</a:t>
              </a:r>
            </a:p>
            <a:p>
              <a:pPr marL="457200" indent="-457200">
                <a:buFont typeface="Century Gothic" panose="020B0502020202020204" pitchFamily="34" charset="0"/>
                <a:buChar char="―"/>
              </a:pPr>
              <a:r>
                <a:rPr lang="ru-RU" sz="2800" dirty="0">
                  <a:latin typeface="Century Gothic" panose="020B0502020202020204" pitchFamily="34" charset="0"/>
                </a:rPr>
                <a:t>Модуль </a:t>
              </a:r>
              <a:r>
                <a:rPr lang="en-US" sz="2800" dirty="0">
                  <a:latin typeface="Century Gothic" panose="020B0502020202020204" pitchFamily="34" charset="0"/>
                </a:rPr>
                <a:t>n</a:t>
              </a:r>
            </a:p>
          </p:txBody>
        </p:sp>
      </p:grpSp>
      <p:sp>
        <p:nvSpPr>
          <p:cNvPr id="35" name="Rectangle 34"/>
          <p:cNvSpPr/>
          <p:nvPr/>
        </p:nvSpPr>
        <p:spPr>
          <a:xfrm>
            <a:off x="8716136" y="1664201"/>
            <a:ext cx="61266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entury Gothic" panose="020B0502020202020204" pitchFamily="34" charset="0"/>
              </a:rPr>
              <a:t>...</a:t>
            </a:r>
          </a:p>
        </p:txBody>
      </p:sp>
      <p:pic>
        <p:nvPicPr>
          <p:cNvPr id="36" name="Picture 35">
            <a:extLst>
              <a:ext uri="{FF2B5EF4-FFF2-40B4-BE49-F238E27FC236}">
                <a16:creationId xmlns:a16="http://schemas.microsoft.com/office/drawing/2014/main" id="{F4C83E37-90D7-C377-6624-E555648A8E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680572" flipH="1">
            <a:off x="5415075" y="2795872"/>
            <a:ext cx="714428" cy="207710"/>
          </a:xfrm>
          <a:prstGeom prst="rect">
            <a:avLst/>
          </a:prstGeom>
        </p:spPr>
      </p:pic>
      <p:pic>
        <p:nvPicPr>
          <p:cNvPr id="39" name="Picture 38">
            <a:extLst>
              <a:ext uri="{FF2B5EF4-FFF2-40B4-BE49-F238E27FC236}">
                <a16:creationId xmlns:a16="http://schemas.microsoft.com/office/drawing/2014/main" id="{F4C83E37-90D7-C377-6624-E555648A8E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4011547" flipH="1">
            <a:off x="6559358" y="2928938"/>
            <a:ext cx="714428" cy="207710"/>
          </a:xfrm>
          <a:prstGeom prst="rect">
            <a:avLst/>
          </a:prstGeom>
        </p:spPr>
      </p:pic>
      <p:pic>
        <p:nvPicPr>
          <p:cNvPr id="40" name="Picture 39">
            <a:extLst>
              <a:ext uri="{FF2B5EF4-FFF2-40B4-BE49-F238E27FC236}">
                <a16:creationId xmlns:a16="http://schemas.microsoft.com/office/drawing/2014/main" id="{F4C83E37-90D7-C377-6624-E555648A8E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6200000" flipH="1">
            <a:off x="7728324" y="2909413"/>
            <a:ext cx="562526" cy="192756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F4C83E37-90D7-C377-6624-E555648A8E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8026173">
            <a:off x="8835047" y="2932096"/>
            <a:ext cx="714428" cy="207710"/>
          </a:xfrm>
          <a:prstGeom prst="rect">
            <a:avLst/>
          </a:prstGeom>
        </p:spPr>
      </p:pic>
      <p:grpSp>
        <p:nvGrpSpPr>
          <p:cNvPr id="67" name="Group 66">
            <a:extLst>
              <a:ext uri="{FF2B5EF4-FFF2-40B4-BE49-F238E27FC236}">
                <a16:creationId xmlns:a16="http://schemas.microsoft.com/office/drawing/2014/main" id="{B13795AF-1319-2194-09EC-BB1947018D81}"/>
              </a:ext>
            </a:extLst>
          </p:cNvPr>
          <p:cNvGrpSpPr/>
          <p:nvPr/>
        </p:nvGrpSpPr>
        <p:grpSpPr>
          <a:xfrm>
            <a:off x="6815884" y="3392897"/>
            <a:ext cx="2387406" cy="1195824"/>
            <a:chOff x="7838761" y="3407593"/>
            <a:chExt cx="2387406" cy="1195824"/>
          </a:xfrm>
        </p:grpSpPr>
        <p:pic>
          <p:nvPicPr>
            <p:cNvPr id="37" name="Picture 36">
              <a:extLst>
                <a:ext uri="{FF2B5EF4-FFF2-40B4-BE49-F238E27FC236}">
                  <a16:creationId xmlns:a16="http://schemas.microsoft.com/office/drawing/2014/main" id="{E0F9B1DF-C0D3-5F68-7E9B-BF5685B1651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102627" y="3547051"/>
              <a:ext cx="645992" cy="866426"/>
            </a:xfrm>
            <a:prstGeom prst="rect">
              <a:avLst/>
            </a:prstGeom>
          </p:spPr>
        </p:pic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496E22DE-4516-4074-B8C8-B7A50F6B2AE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094186" y="3596668"/>
              <a:ext cx="999936" cy="767192"/>
            </a:xfrm>
            <a:prstGeom prst="rect">
              <a:avLst/>
            </a:prstGeom>
          </p:spPr>
        </p:pic>
        <p:sp>
          <p:nvSpPr>
            <p:cNvPr id="43" name="Rectangle 42">
              <a:extLst>
                <a:ext uri="{FF2B5EF4-FFF2-40B4-BE49-F238E27FC236}">
                  <a16:creationId xmlns:a16="http://schemas.microsoft.com/office/drawing/2014/main" id="{A922DFC1-2A46-794C-69A1-1717CEF2A71D}"/>
                </a:ext>
              </a:extLst>
            </p:cNvPr>
            <p:cNvSpPr/>
            <p:nvPr/>
          </p:nvSpPr>
          <p:spPr>
            <a:xfrm>
              <a:off x="7838761" y="3407593"/>
              <a:ext cx="2387406" cy="1195824"/>
            </a:xfrm>
            <a:prstGeom prst="rect">
              <a:avLst/>
            </a:prstGeom>
            <a:noFill/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/>
          <p:cNvGrpSpPr/>
          <p:nvPr/>
        </p:nvGrpSpPr>
        <p:grpSpPr>
          <a:xfrm>
            <a:off x="6183281" y="5132907"/>
            <a:ext cx="1265206" cy="1562459"/>
            <a:chOff x="6698461" y="1494327"/>
            <a:chExt cx="1265206" cy="1562459"/>
          </a:xfrm>
        </p:grpSpPr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E3491331-5420-4D91-B017-712E5A6C1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8808" y="1494327"/>
              <a:ext cx="1164942" cy="1562459"/>
            </a:xfrm>
            <a:prstGeom prst="rect">
              <a:avLst/>
            </a:prstGeom>
          </p:spPr>
        </p:pic>
        <p:pic>
          <p:nvPicPr>
            <p:cNvPr id="46" name="Picture 45">
              <a:extLst>
                <a:ext uri="{FF2B5EF4-FFF2-40B4-BE49-F238E27FC236}">
                  <a16:creationId xmlns:a16="http://schemas.microsoft.com/office/drawing/2014/main" id="{0E20CE0C-66E3-073B-E6D6-DD7E83255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5284" y="1619902"/>
              <a:ext cx="851560" cy="620342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6C0A6251-3A3B-06AD-FFB2-18AD25A5A38C}"/>
                </a:ext>
              </a:extLst>
            </p:cNvPr>
            <p:cNvSpPr txBox="1"/>
            <p:nvPr/>
          </p:nvSpPr>
          <p:spPr>
            <a:xfrm>
              <a:off x="6698461" y="2239568"/>
              <a:ext cx="126520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latin typeface="Century Gothic" panose="020B0502020202020204" pitchFamily="34" charset="0"/>
                </a:rPr>
                <a:t>Модуль </a:t>
              </a:r>
            </a:p>
            <a:p>
              <a:pPr algn="ctr"/>
              <a:r>
                <a:rPr lang="ru-RU" sz="1400" dirty="0">
                  <a:latin typeface="Century Gothic" panose="020B0502020202020204" pitchFamily="34" charset="0"/>
                </a:rPr>
                <a:t>обработки 1</a:t>
              </a:r>
              <a:endParaRPr lang="en-US" sz="14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48" name="Group 47"/>
          <p:cNvGrpSpPr/>
          <p:nvPr/>
        </p:nvGrpSpPr>
        <p:grpSpPr>
          <a:xfrm>
            <a:off x="7480374" y="5132906"/>
            <a:ext cx="1265206" cy="1562459"/>
            <a:chOff x="6698461" y="1494327"/>
            <a:chExt cx="1265206" cy="1562459"/>
          </a:xfrm>
        </p:grpSpPr>
        <p:pic>
          <p:nvPicPr>
            <p:cNvPr id="49" name="Picture 48">
              <a:extLst>
                <a:ext uri="{FF2B5EF4-FFF2-40B4-BE49-F238E27FC236}">
                  <a16:creationId xmlns:a16="http://schemas.microsoft.com/office/drawing/2014/main" id="{E3491331-5420-4D91-B017-712E5A6C1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8808" y="1494327"/>
              <a:ext cx="1164942" cy="1562459"/>
            </a:xfrm>
            <a:prstGeom prst="rect">
              <a:avLst/>
            </a:prstGeom>
          </p:spPr>
        </p:pic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0E20CE0C-66E3-073B-E6D6-DD7E83255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5284" y="1619902"/>
              <a:ext cx="851560" cy="620342"/>
            </a:xfrm>
            <a:prstGeom prst="rect">
              <a:avLst/>
            </a:prstGeom>
          </p:spPr>
        </p:pic>
        <p:sp>
          <p:nvSpPr>
            <p:cNvPr id="51" name="TextBox 50">
              <a:extLst>
                <a:ext uri="{FF2B5EF4-FFF2-40B4-BE49-F238E27FC236}">
                  <a16:creationId xmlns:a16="http://schemas.microsoft.com/office/drawing/2014/main" id="{6C0A6251-3A3B-06AD-FFB2-18AD25A5A38C}"/>
                </a:ext>
              </a:extLst>
            </p:cNvPr>
            <p:cNvSpPr txBox="1"/>
            <p:nvPr/>
          </p:nvSpPr>
          <p:spPr>
            <a:xfrm>
              <a:off x="6698461" y="2239568"/>
              <a:ext cx="126520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400" dirty="0">
                  <a:latin typeface="Century Gothic" panose="020B0502020202020204" pitchFamily="34" charset="0"/>
                </a:rPr>
                <a:t>Модуль </a:t>
              </a:r>
            </a:p>
            <a:p>
              <a:pPr algn="ctr"/>
              <a:r>
                <a:rPr lang="ru-RU" sz="1400" dirty="0">
                  <a:latin typeface="Century Gothic" panose="020B0502020202020204" pitchFamily="34" charset="0"/>
                </a:rPr>
                <a:t>обработки 2</a:t>
              </a:r>
              <a:endParaRPr lang="en-US" sz="14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52" name="Group 51"/>
          <p:cNvGrpSpPr/>
          <p:nvPr/>
        </p:nvGrpSpPr>
        <p:grpSpPr>
          <a:xfrm>
            <a:off x="9807427" y="5132905"/>
            <a:ext cx="1265206" cy="1562459"/>
            <a:chOff x="6698461" y="1494327"/>
            <a:chExt cx="1265206" cy="1562459"/>
          </a:xfrm>
        </p:grpSpPr>
        <p:pic>
          <p:nvPicPr>
            <p:cNvPr id="53" name="Picture 52">
              <a:extLst>
                <a:ext uri="{FF2B5EF4-FFF2-40B4-BE49-F238E27FC236}">
                  <a16:creationId xmlns:a16="http://schemas.microsoft.com/office/drawing/2014/main" id="{E3491331-5420-4D91-B017-712E5A6C1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8808" y="1494327"/>
              <a:ext cx="1164942" cy="1562459"/>
            </a:xfrm>
            <a:prstGeom prst="rect">
              <a:avLst/>
            </a:prstGeom>
          </p:spPr>
        </p:pic>
        <p:pic>
          <p:nvPicPr>
            <p:cNvPr id="54" name="Picture 53">
              <a:extLst>
                <a:ext uri="{FF2B5EF4-FFF2-40B4-BE49-F238E27FC236}">
                  <a16:creationId xmlns:a16="http://schemas.microsoft.com/office/drawing/2014/main" id="{0E20CE0C-66E3-073B-E6D6-DD7E83255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5284" y="1619902"/>
              <a:ext cx="851560" cy="620342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6C0A6251-3A3B-06AD-FFB2-18AD25A5A38C}"/>
                </a:ext>
              </a:extLst>
            </p:cNvPr>
            <p:cNvSpPr txBox="1"/>
            <p:nvPr/>
          </p:nvSpPr>
          <p:spPr>
            <a:xfrm>
              <a:off x="6698461" y="2239568"/>
              <a:ext cx="126520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entury Gothic" panose="020B0502020202020204" pitchFamily="34" charset="0"/>
                </a:rPr>
                <a:t>Chip</a:t>
              </a:r>
            </a:p>
            <a:p>
              <a:pPr algn="ctr"/>
              <a:r>
                <a:rPr lang="en-US" sz="1400" dirty="0">
                  <a:latin typeface="Century Gothic" panose="020B0502020202020204" pitchFamily="34" charset="0"/>
                </a:rPr>
                <a:t>Writer</a:t>
              </a:r>
            </a:p>
            <a:p>
              <a:pPr algn="ctr"/>
              <a:r>
                <a:rPr lang="en-US" sz="1400" dirty="0">
                  <a:latin typeface="Century Gothic" panose="020B0502020202020204" pitchFamily="34" charset="0"/>
                </a:rPr>
                <a:t>Driver</a:t>
              </a:r>
            </a:p>
          </p:txBody>
        </p:sp>
      </p:grpSp>
      <p:sp>
        <p:nvSpPr>
          <p:cNvPr id="56" name="Rectangle 55"/>
          <p:cNvSpPr/>
          <p:nvPr/>
        </p:nvSpPr>
        <p:spPr>
          <a:xfrm>
            <a:off x="8793818" y="5621116"/>
            <a:ext cx="612668" cy="70788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ru-RU" sz="4000" dirty="0">
                <a:latin typeface="Century Gothic" panose="020B0502020202020204" pitchFamily="34" charset="0"/>
              </a:rPr>
              <a:t>...</a:t>
            </a:r>
          </a:p>
        </p:txBody>
      </p:sp>
      <p:grpSp>
        <p:nvGrpSpPr>
          <p:cNvPr id="63" name="Group 62">
            <a:extLst>
              <a:ext uri="{FF2B5EF4-FFF2-40B4-BE49-F238E27FC236}">
                <a16:creationId xmlns:a16="http://schemas.microsoft.com/office/drawing/2014/main" id="{C93E071D-3A53-59F9-951F-208CCC3A1242}"/>
              </a:ext>
            </a:extLst>
          </p:cNvPr>
          <p:cNvGrpSpPr/>
          <p:nvPr/>
        </p:nvGrpSpPr>
        <p:grpSpPr>
          <a:xfrm>
            <a:off x="6091883" y="1133064"/>
            <a:ext cx="1269461" cy="1562459"/>
            <a:chOff x="6616624" y="1375491"/>
            <a:chExt cx="1269461" cy="1562459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E3491331-5420-4D91-B017-712E5A6C1573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73819" y="1375491"/>
              <a:ext cx="1164942" cy="1562459"/>
            </a:xfrm>
            <a:prstGeom prst="rect">
              <a:avLst/>
            </a:prstGeom>
          </p:spPr>
        </p:pic>
        <p:sp>
          <p:nvSpPr>
            <p:cNvPr id="18" name="TextBox 17">
              <a:extLst>
                <a:ext uri="{FF2B5EF4-FFF2-40B4-BE49-F238E27FC236}">
                  <a16:creationId xmlns:a16="http://schemas.microsoft.com/office/drawing/2014/main" id="{6C0A6251-3A3B-06AD-FFB2-18AD25A5A38C}"/>
                </a:ext>
              </a:extLst>
            </p:cNvPr>
            <p:cNvSpPr txBox="1"/>
            <p:nvPr/>
          </p:nvSpPr>
          <p:spPr>
            <a:xfrm>
              <a:off x="6616624" y="2037332"/>
              <a:ext cx="1269461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1600" dirty="0">
                  <a:latin typeface="Century Gothic" panose="020B0502020202020204" pitchFamily="34" charset="0"/>
                </a:rPr>
                <a:t>Модуль </a:t>
              </a:r>
            </a:p>
            <a:p>
              <a:pPr algn="ctr"/>
              <a:r>
                <a:rPr lang="ru-RU" sz="1600" dirty="0">
                  <a:latin typeface="Century Gothic" panose="020B0502020202020204" pitchFamily="34" charset="0"/>
                </a:rPr>
                <a:t>настроек 1</a:t>
              </a:r>
              <a:endParaRPr lang="en-US" sz="1600" dirty="0">
                <a:latin typeface="Century Gothic" panose="020B0502020202020204" pitchFamily="34" charset="0"/>
              </a:endParaRPr>
            </a:p>
          </p:txBody>
        </p:sp>
        <p:pic>
          <p:nvPicPr>
            <p:cNvPr id="70" name="Picture 69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6904836" y="1461544"/>
              <a:ext cx="696348" cy="696348"/>
            </a:xfrm>
            <a:prstGeom prst="rect">
              <a:avLst/>
            </a:prstGeom>
          </p:spPr>
        </p:pic>
      </p:grpSp>
      <p:grpSp>
        <p:nvGrpSpPr>
          <p:cNvPr id="65" name="Group 64">
            <a:extLst>
              <a:ext uri="{FF2B5EF4-FFF2-40B4-BE49-F238E27FC236}">
                <a16:creationId xmlns:a16="http://schemas.microsoft.com/office/drawing/2014/main" id="{6F72DC34-B8A0-1CD3-3C2D-4C70E71491FE}"/>
              </a:ext>
            </a:extLst>
          </p:cNvPr>
          <p:cNvGrpSpPr/>
          <p:nvPr/>
        </p:nvGrpSpPr>
        <p:grpSpPr>
          <a:xfrm>
            <a:off x="7374857" y="1133063"/>
            <a:ext cx="1269461" cy="1562459"/>
            <a:chOff x="8102627" y="1375492"/>
            <a:chExt cx="1269461" cy="1562459"/>
          </a:xfrm>
        </p:grpSpPr>
        <p:grpSp>
          <p:nvGrpSpPr>
            <p:cNvPr id="27" name="Group 26"/>
            <p:cNvGrpSpPr/>
            <p:nvPr/>
          </p:nvGrpSpPr>
          <p:grpSpPr>
            <a:xfrm>
              <a:off x="8102627" y="1375492"/>
              <a:ext cx="1269461" cy="1562459"/>
              <a:chOff x="6691613" y="1494327"/>
              <a:chExt cx="1269461" cy="1562459"/>
            </a:xfrm>
          </p:grpSpPr>
          <p:pic>
            <p:nvPicPr>
              <p:cNvPr id="28" name="Picture 27">
                <a:extLst>
                  <a:ext uri="{FF2B5EF4-FFF2-40B4-BE49-F238E27FC236}">
                    <a16:creationId xmlns:a16="http://schemas.microsoft.com/office/drawing/2014/main" id="{E3491331-5420-4D91-B017-712E5A6C15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48808" y="1494327"/>
                <a:ext cx="1164942" cy="1562459"/>
              </a:xfrm>
              <a:prstGeom prst="rect">
                <a:avLst/>
              </a:prstGeom>
            </p:spPr>
          </p:pic>
          <p:sp>
            <p:nvSpPr>
              <p:cNvPr id="30" name="TextBox 29">
                <a:extLst>
                  <a:ext uri="{FF2B5EF4-FFF2-40B4-BE49-F238E27FC236}">
                    <a16:creationId xmlns:a16="http://schemas.microsoft.com/office/drawing/2014/main" id="{6C0A6251-3A3B-06AD-FFB2-18AD25A5A38C}"/>
                  </a:ext>
                </a:extLst>
              </p:cNvPr>
              <p:cNvSpPr txBox="1"/>
              <p:nvPr/>
            </p:nvSpPr>
            <p:spPr>
              <a:xfrm>
                <a:off x="6691613" y="2156168"/>
                <a:ext cx="126946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600" dirty="0">
                    <a:latin typeface="Century Gothic" panose="020B0502020202020204" pitchFamily="34" charset="0"/>
                  </a:rPr>
                  <a:t>Модуль </a:t>
                </a:r>
              </a:p>
              <a:p>
                <a:pPr algn="ctr"/>
                <a:r>
                  <a:rPr lang="ru-RU" sz="1600" dirty="0">
                    <a:latin typeface="Century Gothic" panose="020B0502020202020204" pitchFamily="34" charset="0"/>
                  </a:rPr>
                  <a:t>настроек 2</a:t>
                </a:r>
                <a:endParaRPr lang="en-US" sz="1600" dirty="0">
                  <a:latin typeface="Century Gothic" panose="020B0502020202020204" pitchFamily="34" charset="0"/>
                </a:endParaRPr>
              </a:p>
            </p:txBody>
          </p:sp>
        </p:grpSp>
        <p:pic>
          <p:nvPicPr>
            <p:cNvPr id="72" name="Picture 71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8390839" y="1461544"/>
              <a:ext cx="696348" cy="696348"/>
            </a:xfrm>
            <a:prstGeom prst="rect">
              <a:avLst/>
            </a:prstGeom>
          </p:spPr>
        </p:pic>
      </p:grpSp>
      <p:grpSp>
        <p:nvGrpSpPr>
          <p:cNvPr id="66" name="Group 65">
            <a:extLst>
              <a:ext uri="{FF2B5EF4-FFF2-40B4-BE49-F238E27FC236}">
                <a16:creationId xmlns:a16="http://schemas.microsoft.com/office/drawing/2014/main" id="{9FA00AA9-6F68-9FB6-C53D-84304DA1E766}"/>
              </a:ext>
            </a:extLst>
          </p:cNvPr>
          <p:cNvGrpSpPr/>
          <p:nvPr/>
        </p:nvGrpSpPr>
        <p:grpSpPr>
          <a:xfrm>
            <a:off x="9408511" y="1137221"/>
            <a:ext cx="1269461" cy="1562459"/>
            <a:chOff x="10258120" y="1377146"/>
            <a:chExt cx="1269461" cy="1562459"/>
          </a:xfrm>
        </p:grpSpPr>
        <p:grpSp>
          <p:nvGrpSpPr>
            <p:cNvPr id="31" name="Group 30"/>
            <p:cNvGrpSpPr/>
            <p:nvPr/>
          </p:nvGrpSpPr>
          <p:grpSpPr>
            <a:xfrm>
              <a:off x="10258120" y="1377146"/>
              <a:ext cx="1269461" cy="1562459"/>
              <a:chOff x="6691613" y="1495981"/>
              <a:chExt cx="1269461" cy="1562459"/>
            </a:xfrm>
          </p:grpSpPr>
          <p:pic>
            <p:nvPicPr>
              <p:cNvPr id="32" name="Picture 31">
                <a:extLst>
                  <a:ext uri="{FF2B5EF4-FFF2-40B4-BE49-F238E27FC236}">
                    <a16:creationId xmlns:a16="http://schemas.microsoft.com/office/drawing/2014/main" id="{E3491331-5420-4D91-B017-712E5A6C157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9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tretch>
                <a:fillRect/>
              </a:stretch>
            </p:blipFill>
            <p:spPr>
              <a:xfrm>
                <a:off x="6731048" y="1495981"/>
                <a:ext cx="1164942" cy="1562459"/>
              </a:xfrm>
              <a:prstGeom prst="rect">
                <a:avLst/>
              </a:prstGeom>
            </p:spPr>
          </p:pic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6C0A6251-3A3B-06AD-FFB2-18AD25A5A38C}"/>
                  </a:ext>
                </a:extLst>
              </p:cNvPr>
              <p:cNvSpPr txBox="1"/>
              <p:nvPr/>
            </p:nvSpPr>
            <p:spPr>
              <a:xfrm>
                <a:off x="6691613" y="2156168"/>
                <a:ext cx="1269461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ru-RU" sz="1600" dirty="0">
                    <a:latin typeface="Century Gothic" panose="020B0502020202020204" pitchFamily="34" charset="0"/>
                  </a:rPr>
                  <a:t>Модуль </a:t>
                </a:r>
              </a:p>
              <a:p>
                <a:pPr algn="ctr"/>
                <a:r>
                  <a:rPr lang="ru-RU" sz="1600" dirty="0">
                    <a:latin typeface="Century Gothic" panose="020B0502020202020204" pitchFamily="34" charset="0"/>
                  </a:rPr>
                  <a:t>настроек </a:t>
                </a:r>
                <a:r>
                  <a:rPr lang="en-US" sz="1600" dirty="0">
                    <a:latin typeface="Century Gothic" panose="020B0502020202020204" pitchFamily="34" charset="0"/>
                  </a:rPr>
                  <a:t>n</a:t>
                </a:r>
              </a:p>
            </p:txBody>
          </p:sp>
        </p:grpSp>
        <p:pic>
          <p:nvPicPr>
            <p:cNvPr id="73" name="Picture 72"/>
            <p:cNvPicPr>
              <a:picLocks noChangeAspect="1"/>
            </p:cNvPicPr>
            <p:nvPr/>
          </p:nvPicPr>
          <p:blipFill>
            <a:blip r:embed="rId11"/>
            <a:stretch>
              <a:fillRect/>
            </a:stretch>
          </p:blipFill>
          <p:spPr>
            <a:xfrm>
              <a:off x="10544676" y="1459083"/>
              <a:ext cx="696348" cy="696348"/>
            </a:xfrm>
            <a:prstGeom prst="rect">
              <a:avLst/>
            </a:prstGeom>
          </p:spPr>
        </p:pic>
      </p:grpSp>
      <p:pic>
        <p:nvPicPr>
          <p:cNvPr id="57" name="Picture 56">
            <a:extLst>
              <a:ext uri="{FF2B5EF4-FFF2-40B4-BE49-F238E27FC236}">
                <a16:creationId xmlns:a16="http://schemas.microsoft.com/office/drawing/2014/main" id="{F4C83E37-90D7-C377-6624-E555648A8E0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12171486" flipH="1" flipV="1">
            <a:off x="5501300" y="5230001"/>
            <a:ext cx="714428" cy="207710"/>
          </a:xfrm>
          <a:prstGeom prst="rect">
            <a:avLst/>
          </a:prstGeom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id="{2E2C803C-03CF-F5D1-E28D-2BB7D9A08693}"/>
              </a:ext>
            </a:extLst>
          </p:cNvPr>
          <p:cNvCxnSpPr>
            <a:stCxn id="45" idx="0"/>
            <a:endCxn id="43" idx="2"/>
          </p:cNvCxnSpPr>
          <p:nvPr/>
        </p:nvCxnSpPr>
        <p:spPr>
          <a:xfrm rot="5400000" flipH="1" flipV="1">
            <a:off x="7140750" y="4264070"/>
            <a:ext cx="544186" cy="1193488"/>
          </a:xfrm>
          <a:prstGeom prst="bentConnector3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236B352D-A4B7-D4D7-6929-36A0FB7523A3}"/>
              </a:ext>
            </a:extLst>
          </p:cNvPr>
          <p:cNvCxnSpPr>
            <a:stCxn id="49" idx="0"/>
            <a:endCxn id="43" idx="2"/>
          </p:cNvCxnSpPr>
          <p:nvPr/>
        </p:nvCxnSpPr>
        <p:spPr>
          <a:xfrm rot="16200000" flipV="1">
            <a:off x="7789298" y="4809011"/>
            <a:ext cx="544185" cy="103605"/>
          </a:xfrm>
          <a:prstGeom prst="bentConnector3">
            <a:avLst>
              <a:gd name="adj1" fmla="val 50001"/>
            </a:avLst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9064F6D9-D004-AF03-D135-F8513C42CDC2}"/>
              </a:ext>
            </a:extLst>
          </p:cNvPr>
          <p:cNvCxnSpPr>
            <a:cxnSpLocks/>
            <a:stCxn id="53" idx="1"/>
            <a:endCxn id="43" idx="3"/>
          </p:cNvCxnSpPr>
          <p:nvPr/>
        </p:nvCxnSpPr>
        <p:spPr>
          <a:xfrm rot="10800000">
            <a:off x="9203290" y="3990809"/>
            <a:ext cx="654484" cy="1923326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3" name="Picture 32">
            <a:extLst>
              <a:ext uri="{FF2B5EF4-FFF2-40B4-BE49-F238E27FC236}">
                <a16:creationId xmlns:a16="http://schemas.microsoft.com/office/drawing/2014/main" id="{461E0B64-FD2F-4C2A-015E-9FC7E400B4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5400000" flipH="1" flipV="1">
            <a:off x="10240608" y="4702842"/>
            <a:ext cx="612322" cy="178024"/>
          </a:xfrm>
          <a:prstGeom prst="rect">
            <a:avLst/>
          </a:prstGeom>
        </p:spPr>
      </p:pic>
      <p:grpSp>
        <p:nvGrpSpPr>
          <p:cNvPr id="78" name="Group 77">
            <a:extLst>
              <a:ext uri="{FF2B5EF4-FFF2-40B4-BE49-F238E27FC236}">
                <a16:creationId xmlns:a16="http://schemas.microsoft.com/office/drawing/2014/main" id="{CA18B4EB-B526-2122-E4C2-DF9F37AA35C7}"/>
              </a:ext>
            </a:extLst>
          </p:cNvPr>
          <p:cNvGrpSpPr/>
          <p:nvPr/>
        </p:nvGrpSpPr>
        <p:grpSpPr>
          <a:xfrm>
            <a:off x="9550262" y="3069154"/>
            <a:ext cx="1581091" cy="1562459"/>
            <a:chOff x="9757919" y="3081660"/>
            <a:chExt cx="1364652" cy="1348571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FA9B81A8-0B2C-1078-A6CB-4F150A8FA941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757919" y="3081660"/>
              <a:ext cx="1364652" cy="604984"/>
            </a:xfrm>
            <a:prstGeom prst="rect">
              <a:avLst/>
            </a:prstGeom>
          </p:spPr>
        </p:pic>
        <p:pic>
          <p:nvPicPr>
            <p:cNvPr id="59" name="Picture 58">
              <a:extLst>
                <a:ext uri="{FF2B5EF4-FFF2-40B4-BE49-F238E27FC236}">
                  <a16:creationId xmlns:a16="http://schemas.microsoft.com/office/drawing/2014/main" id="{649DEBA7-EDD2-E7F7-3F49-ADD5F0C01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74406" y="3584371"/>
              <a:ext cx="425168" cy="845860"/>
            </a:xfrm>
            <a:prstGeom prst="rect">
              <a:avLst/>
            </a:prstGeom>
          </p:spPr>
        </p:pic>
      </p:grpSp>
      <p:cxnSp>
        <p:nvCxnSpPr>
          <p:cNvPr id="62" name="Straight Connector 61">
            <a:extLst>
              <a:ext uri="{FF2B5EF4-FFF2-40B4-BE49-F238E27FC236}">
                <a16:creationId xmlns:a16="http://schemas.microsoft.com/office/drawing/2014/main" id="{79785FA5-97BC-FE93-3E5D-7D4D8F5AD8C2}"/>
              </a:ext>
            </a:extLst>
          </p:cNvPr>
          <p:cNvCxnSpPr>
            <a:stCxn id="10" idx="2"/>
            <a:endCxn id="11" idx="0"/>
          </p:cNvCxnSpPr>
          <p:nvPr/>
        </p:nvCxnSpPr>
        <p:spPr>
          <a:xfrm>
            <a:off x="3976681" y="3039630"/>
            <a:ext cx="487" cy="212221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Slide Number Placeholder 78">
            <a:extLst>
              <a:ext uri="{FF2B5EF4-FFF2-40B4-BE49-F238E27FC236}">
                <a16:creationId xmlns:a16="http://schemas.microsoft.com/office/drawing/2014/main" id="{56F29E63-018E-B30A-AAD9-92F42684FA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6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9543852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1351128" y="614149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379112" y="162234"/>
            <a:ext cx="9409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Схема сетевого подключения к модулю</a:t>
            </a:r>
          </a:p>
        </p:txBody>
      </p:sp>
      <p:sp>
        <p:nvSpPr>
          <p:cNvPr id="3" name="Cloud 2"/>
          <p:cNvSpPr/>
          <p:nvPr/>
        </p:nvSpPr>
        <p:spPr>
          <a:xfrm>
            <a:off x="1063030" y="2893512"/>
            <a:ext cx="3597342" cy="2091847"/>
          </a:xfrm>
          <a:prstGeom prst="cloud">
            <a:avLst/>
          </a:prstGeom>
          <a:solidFill>
            <a:schemeClr val="bg1"/>
          </a:solidFill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/>
          <p:cNvSpPr txBox="1"/>
          <p:nvPr/>
        </p:nvSpPr>
        <p:spPr>
          <a:xfrm>
            <a:off x="1853251" y="3754769"/>
            <a:ext cx="20168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dirty="0">
                <a:latin typeface="Century Gothic" panose="020B0502020202020204" pitchFamily="34" charset="0"/>
              </a:rPr>
              <a:t>Внутренняя сеть</a:t>
            </a:r>
            <a:endParaRPr lang="en-US" dirty="0">
              <a:latin typeface="Century Gothic" panose="020B0502020202020204" pitchFamily="34" charset="0"/>
            </a:endParaRPr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78951" y="1455586"/>
            <a:ext cx="965498" cy="1020222"/>
          </a:xfrm>
          <a:prstGeom prst="rect">
            <a:avLst/>
          </a:prstGeom>
        </p:spPr>
      </p:pic>
      <p:cxnSp>
        <p:nvCxnSpPr>
          <p:cNvPr id="13" name="Straight Connector 12"/>
          <p:cNvCxnSpPr>
            <a:stCxn id="3" idx="3"/>
            <a:endCxn id="10" idx="2"/>
          </p:cNvCxnSpPr>
          <p:nvPr/>
        </p:nvCxnSpPr>
        <p:spPr>
          <a:xfrm flipH="1" flipV="1">
            <a:off x="2861700" y="2475808"/>
            <a:ext cx="1" cy="537307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1788075" y="1049835"/>
            <a:ext cx="21472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Century Gothic" panose="020B0502020202020204" pitchFamily="34" charset="0"/>
              </a:rPr>
              <a:t>Управляющая ЭВМ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BD4D3E0E-E0E6-4F32-B612-650FDCFC76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1566" y="5403232"/>
            <a:ext cx="2000266" cy="886768"/>
          </a:xfrm>
          <a:prstGeom prst="rect">
            <a:avLst/>
          </a:prstGeom>
        </p:spPr>
      </p:pic>
      <p:cxnSp>
        <p:nvCxnSpPr>
          <p:cNvPr id="16" name="Straight Connector 15"/>
          <p:cNvCxnSpPr>
            <a:endCxn id="3" idx="1"/>
          </p:cNvCxnSpPr>
          <p:nvPr/>
        </p:nvCxnSpPr>
        <p:spPr>
          <a:xfrm flipV="1">
            <a:off x="2861701" y="4983132"/>
            <a:ext cx="0" cy="419932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1582470" y="6290000"/>
            <a:ext cx="2558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Century Gothic" panose="020B0502020202020204" pitchFamily="34" charset="0"/>
              </a:rPr>
              <a:t>Кардридерный модуль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01338" y="2590737"/>
            <a:ext cx="965498" cy="1020222"/>
          </a:xfrm>
          <a:prstGeom prst="rect">
            <a:avLst/>
          </a:prstGeom>
        </p:spPr>
      </p:pic>
      <p:cxnSp>
        <p:nvCxnSpPr>
          <p:cNvPr id="20" name="Straight Connector 19"/>
          <p:cNvCxnSpPr>
            <a:endCxn id="19" idx="2"/>
          </p:cNvCxnSpPr>
          <p:nvPr/>
        </p:nvCxnSpPr>
        <p:spPr>
          <a:xfrm flipH="1" flipV="1">
            <a:off x="6084087" y="3610959"/>
            <a:ext cx="2" cy="540221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BD4D3E0E-E0E6-4F32-B612-650FDCFC76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83954" y="4148266"/>
            <a:ext cx="2000266" cy="886768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5010462" y="2178706"/>
            <a:ext cx="214724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Century Gothic" panose="020B0502020202020204" pitchFamily="34" charset="0"/>
              </a:rPr>
              <a:t>Управляющая ЭВМ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804857" y="5072688"/>
            <a:ext cx="255845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Century Gothic" panose="020B0502020202020204" pitchFamily="34" charset="0"/>
              </a:rPr>
              <a:t>Кардридерный модуль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BD4D3E0E-E0E6-4F32-B612-650FDCFC76D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97633" y="2716013"/>
            <a:ext cx="2000266" cy="886768"/>
          </a:xfrm>
          <a:prstGeom prst="rect">
            <a:avLst/>
          </a:prstGeom>
        </p:spPr>
      </p:pic>
      <p:cxnSp>
        <p:nvCxnSpPr>
          <p:cNvPr id="25" name="Straight Connector 24"/>
          <p:cNvCxnSpPr/>
          <p:nvPr/>
        </p:nvCxnSpPr>
        <p:spPr>
          <a:xfrm flipH="1" flipV="1">
            <a:off x="9749849" y="2178706"/>
            <a:ext cx="1" cy="537307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/>
          <p:cNvCxnSpPr>
            <a:stCxn id="29" idx="0"/>
          </p:cNvCxnSpPr>
          <p:nvPr/>
        </p:nvCxnSpPr>
        <p:spPr>
          <a:xfrm flipV="1">
            <a:off x="8535711" y="3591404"/>
            <a:ext cx="562248" cy="526776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/>
          <p:cNvCxnSpPr/>
          <p:nvPr/>
        </p:nvCxnSpPr>
        <p:spPr>
          <a:xfrm flipH="1" flipV="1">
            <a:off x="9706069" y="3591404"/>
            <a:ext cx="1" cy="537307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Connector 27"/>
          <p:cNvCxnSpPr>
            <a:stCxn id="37" idx="0"/>
          </p:cNvCxnSpPr>
          <p:nvPr/>
        </p:nvCxnSpPr>
        <p:spPr>
          <a:xfrm flipH="1" flipV="1">
            <a:off x="10314180" y="3591404"/>
            <a:ext cx="562247" cy="526776"/>
          </a:xfrm>
          <a:prstGeom prst="line">
            <a:avLst/>
          </a:prstGeom>
          <a:ln w="19050">
            <a:solidFill>
              <a:schemeClr val="accent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9" name="Picture 28">
            <a:extLst>
              <a:ext uri="{FF2B5EF4-FFF2-40B4-BE49-F238E27FC236}">
                <a16:creationId xmlns:a16="http://schemas.microsoft.com/office/drawing/2014/main" id="{723E8D1F-D839-4A4B-B861-F9F72C4136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14886" y="4118180"/>
            <a:ext cx="641650" cy="1276546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723E8D1F-D839-4A4B-B861-F9F72C4136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5244" y="4125786"/>
            <a:ext cx="641650" cy="1276546"/>
          </a:xfrm>
          <a:prstGeom prst="rect">
            <a:avLst/>
          </a:prstGeom>
        </p:spPr>
      </p:pic>
      <p:pic>
        <p:nvPicPr>
          <p:cNvPr id="37" name="Picture 36">
            <a:extLst>
              <a:ext uri="{FF2B5EF4-FFF2-40B4-BE49-F238E27FC236}">
                <a16:creationId xmlns:a16="http://schemas.microsoft.com/office/drawing/2014/main" id="{723E8D1F-D839-4A4B-B861-F9F72C4136AF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55602" y="4118180"/>
            <a:ext cx="641650" cy="1276546"/>
          </a:xfrm>
          <a:prstGeom prst="rect">
            <a:avLst/>
          </a:prstGeom>
        </p:spPr>
      </p:pic>
      <p:sp>
        <p:nvSpPr>
          <p:cNvPr id="51" name="Cloud 50"/>
          <p:cNvSpPr/>
          <p:nvPr/>
        </p:nvSpPr>
        <p:spPr>
          <a:xfrm>
            <a:off x="8535711" y="1049835"/>
            <a:ext cx="2340716" cy="1128871"/>
          </a:xfrm>
          <a:prstGeom prst="cloud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/>
          <p:cNvSpPr txBox="1"/>
          <p:nvPr/>
        </p:nvSpPr>
        <p:spPr>
          <a:xfrm>
            <a:off x="9897348" y="2363371"/>
            <a:ext cx="145581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192.168.0.80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7902706" y="5846616"/>
            <a:ext cx="124407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192.168.0.81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9090241" y="5846616"/>
            <a:ext cx="123165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192.168.0.82</a:t>
            </a:r>
            <a:endParaRPr lang="en-US" sz="1400" dirty="0">
              <a:latin typeface="Century Gothic" panose="020B0502020202020204" pitchFamily="34" charset="0"/>
            </a:endParaRPr>
          </a:p>
        </p:txBody>
      </p:sp>
      <p:sp>
        <p:nvSpPr>
          <p:cNvPr id="55" name="TextBox 54"/>
          <p:cNvSpPr txBox="1"/>
          <p:nvPr/>
        </p:nvSpPr>
        <p:spPr>
          <a:xfrm>
            <a:off x="8022300" y="5542255"/>
            <a:ext cx="1025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Century Gothic" panose="020B0502020202020204" pitchFamily="34" charset="0"/>
              </a:rPr>
              <a:t>ридер 1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9174423" y="5542255"/>
            <a:ext cx="10632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Century Gothic" panose="020B0502020202020204" pitchFamily="34" charset="0"/>
              </a:rPr>
              <a:t>ридер 2</a:t>
            </a:r>
            <a:endParaRPr lang="en-US" sz="1600" dirty="0">
              <a:latin typeface="Century Gothic" panose="020B0502020202020204" pitchFamily="34" charset="0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0265350" y="5841072"/>
            <a:ext cx="1571853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latin typeface="Century Gothic" panose="020B0502020202020204" pitchFamily="34" charset="0"/>
              </a:rPr>
              <a:t>192.168.0.(80+</a:t>
            </a:r>
            <a:r>
              <a:rPr lang="en-US" sz="1400" dirty="0">
                <a:latin typeface="Century Gothic" panose="020B0502020202020204" pitchFamily="34" charset="0"/>
              </a:rPr>
              <a:t>n)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10367457" y="5542255"/>
            <a:ext cx="102585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600" dirty="0">
                <a:latin typeface="Century Gothic" panose="020B0502020202020204" pitchFamily="34" charset="0"/>
              </a:rPr>
              <a:t>ридер </a:t>
            </a:r>
            <a:r>
              <a:rPr lang="en-US" sz="1600" dirty="0">
                <a:latin typeface="Century Gothic" panose="020B0502020202020204" pitchFamily="34" charset="0"/>
              </a:rPr>
              <a:t>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AC5E1EE-08FE-760F-BCE3-F2645D1577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7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8242320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529C2627-CD5F-A902-B215-21B7C19F6F64}"/>
              </a:ext>
            </a:extLst>
          </p:cNvPr>
          <p:cNvSpPr/>
          <p:nvPr/>
        </p:nvSpPr>
        <p:spPr>
          <a:xfrm>
            <a:off x="1362777" y="3156756"/>
            <a:ext cx="3794593" cy="1926720"/>
          </a:xfrm>
          <a:prstGeom prst="rect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2" descr="C:\Users\Андрей\Desktop\1\Безымянный-1.pn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/>
          <p:cNvSpPr txBox="1"/>
          <p:nvPr/>
        </p:nvSpPr>
        <p:spPr>
          <a:xfrm>
            <a:off x="2906973" y="4367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/>
          <p:cNvSpPr txBox="1"/>
          <p:nvPr/>
        </p:nvSpPr>
        <p:spPr>
          <a:xfrm>
            <a:off x="1874341" y="168153"/>
            <a:ext cx="844333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Схема взаимодействия с модулем</a:t>
            </a:r>
          </a:p>
        </p:txBody>
      </p:sp>
      <p:sp>
        <p:nvSpPr>
          <p:cNvPr id="8" name="Прямоугольник 7"/>
          <p:cNvSpPr/>
          <p:nvPr/>
        </p:nvSpPr>
        <p:spPr>
          <a:xfrm>
            <a:off x="109183" y="1041023"/>
            <a:ext cx="12082817" cy="586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/>
              <a:t>	</a:t>
            </a:r>
            <a:endParaRPr lang="ru-RU" sz="2000" dirty="0">
              <a:latin typeface="Century Gothic" panose="020B0502020202020204" pitchFamily="34" charset="0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A90822A2-AF19-425B-8F76-10DB171CCAC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5182" y="1150792"/>
            <a:ext cx="1496533" cy="1562459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2893" y="2711148"/>
            <a:ext cx="28060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>
                <a:latin typeface="Century Gothic" panose="020B0502020202020204" pitchFamily="34" charset="0"/>
              </a:rPr>
              <a:t>TranzWare</a:t>
            </a:r>
            <a:r>
              <a:rPr lang="en-US" dirty="0">
                <a:latin typeface="Century Gothic" panose="020B0502020202020204" pitchFamily="34" charset="0"/>
              </a:rPr>
              <a:t> </a:t>
            </a:r>
            <a:r>
              <a:rPr lang="en-US" dirty="0" err="1">
                <a:latin typeface="Century Gothic" panose="020B0502020202020204" pitchFamily="34" charset="0"/>
              </a:rPr>
              <a:t>CardFactory</a:t>
            </a:r>
            <a:endParaRPr lang="ru-RU" dirty="0">
              <a:latin typeface="Century Gothic" panose="020B0502020202020204" pitchFamily="34" charset="0"/>
            </a:endParaRPr>
          </a:p>
        </p:txBody>
      </p:sp>
      <p:grpSp>
        <p:nvGrpSpPr>
          <p:cNvPr id="10" name="Group 9"/>
          <p:cNvGrpSpPr/>
          <p:nvPr/>
        </p:nvGrpSpPr>
        <p:grpSpPr>
          <a:xfrm>
            <a:off x="9370779" y="1201715"/>
            <a:ext cx="2144831" cy="1931791"/>
            <a:chOff x="9355402" y="2946927"/>
            <a:chExt cx="2144831" cy="193179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EA6BCD99-EF0F-BB81-6E5D-841B9F66F47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55402" y="2946927"/>
              <a:ext cx="2144831" cy="1562459"/>
            </a:xfrm>
            <a:prstGeom prst="rect">
              <a:avLst/>
            </a:prstGeom>
          </p:spPr>
        </p:pic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F8824C-45BD-E329-E70B-AF2E073C3BF6}"/>
                </a:ext>
              </a:extLst>
            </p:cNvPr>
            <p:cNvSpPr txBox="1"/>
            <p:nvPr/>
          </p:nvSpPr>
          <p:spPr>
            <a:xfrm>
              <a:off x="9540257" y="4509386"/>
              <a:ext cx="1775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entury Gothic" panose="020B0502020202020204" pitchFamily="34" charset="0"/>
                </a:rPr>
                <a:t>Maticard</a:t>
              </a:r>
              <a:r>
                <a:rPr lang="en-US" dirty="0">
                  <a:latin typeface="Century Gothic" panose="020B0502020202020204" pitchFamily="34" charset="0"/>
                </a:rPr>
                <a:t> PRO</a:t>
              </a:r>
            </a:p>
          </p:txBody>
        </p:sp>
      </p:grpSp>
      <p:grpSp>
        <p:nvGrpSpPr>
          <p:cNvPr id="53" name="Group 52"/>
          <p:cNvGrpSpPr/>
          <p:nvPr/>
        </p:nvGrpSpPr>
        <p:grpSpPr>
          <a:xfrm>
            <a:off x="3788548" y="3360900"/>
            <a:ext cx="1321445" cy="1562459"/>
            <a:chOff x="4459057" y="4591624"/>
            <a:chExt cx="1321445" cy="1562459"/>
          </a:xfrm>
        </p:grpSpPr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9794B69E-09D4-23A3-CDBB-6C6AFAD7B7B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9057" y="4591624"/>
              <a:ext cx="1164942" cy="1562459"/>
            </a:xfrm>
            <a:prstGeom prst="rect">
              <a:avLst/>
            </a:prstGeom>
          </p:spPr>
        </p:pic>
        <p:pic>
          <p:nvPicPr>
            <p:cNvPr id="36" name="Picture 35">
              <a:extLst>
                <a:ext uri="{FF2B5EF4-FFF2-40B4-BE49-F238E27FC236}">
                  <a16:creationId xmlns:a16="http://schemas.microsoft.com/office/drawing/2014/main" id="{54FD0773-E414-71C1-CD4F-11915174B59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15748" y="4727446"/>
              <a:ext cx="851560" cy="620342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40814F84-C5CB-7495-FDB8-4594AD13574B}"/>
                </a:ext>
              </a:extLst>
            </p:cNvPr>
            <p:cNvSpPr txBox="1"/>
            <p:nvPr/>
          </p:nvSpPr>
          <p:spPr>
            <a:xfrm>
              <a:off x="4506434" y="5395317"/>
              <a:ext cx="12740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latin typeface="Century Gothic" panose="020B0502020202020204" pitchFamily="34" charset="0"/>
                </a:rPr>
                <a:t>Драйвер </a:t>
              </a:r>
            </a:p>
            <a:p>
              <a:r>
                <a:rPr lang="en-US" sz="1600" dirty="0">
                  <a:latin typeface="Century Gothic" panose="020B0502020202020204" pitchFamily="34" charset="0"/>
                </a:rPr>
                <a:t>MATICA</a:t>
              </a:r>
              <a:endParaRPr lang="ru-RU" sz="16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109BACA4-1D71-F0C7-36ED-B050513D4C5C}"/>
              </a:ext>
            </a:extLst>
          </p:cNvPr>
          <p:cNvGrpSpPr/>
          <p:nvPr/>
        </p:nvGrpSpPr>
        <p:grpSpPr>
          <a:xfrm>
            <a:off x="6626205" y="3321701"/>
            <a:ext cx="1719789" cy="1721306"/>
            <a:chOff x="6979279" y="4486085"/>
            <a:chExt cx="2000266" cy="2002030"/>
          </a:xfrm>
        </p:grpSpPr>
        <p:pic>
          <p:nvPicPr>
            <p:cNvPr id="43" name="Picture 42">
              <a:extLst>
                <a:ext uri="{FF2B5EF4-FFF2-40B4-BE49-F238E27FC236}">
                  <a16:creationId xmlns:a16="http://schemas.microsoft.com/office/drawing/2014/main" id="{B9E5AD87-765D-6D83-EFF7-328CE7F0BB53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79279" y="4486085"/>
              <a:ext cx="2000266" cy="886768"/>
            </a:xfrm>
            <a:prstGeom prst="rect">
              <a:avLst/>
            </a:prstGeom>
          </p:spPr>
        </p:pic>
        <p:pic>
          <p:nvPicPr>
            <p:cNvPr id="44" name="Picture 43">
              <a:extLst>
                <a:ext uri="{FF2B5EF4-FFF2-40B4-BE49-F238E27FC236}">
                  <a16:creationId xmlns:a16="http://schemas.microsoft.com/office/drawing/2014/main" id="{C83D7F1F-5F26-C8F7-48AA-9808EE173EC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7689698" y="5211569"/>
              <a:ext cx="641650" cy="1276546"/>
            </a:xfrm>
            <a:prstGeom prst="rect">
              <a:avLst/>
            </a:prstGeom>
          </p:spPr>
        </p:pic>
      </p:grpSp>
      <p:grpSp>
        <p:nvGrpSpPr>
          <p:cNvPr id="55" name="Group 54"/>
          <p:cNvGrpSpPr/>
          <p:nvPr/>
        </p:nvGrpSpPr>
        <p:grpSpPr>
          <a:xfrm>
            <a:off x="3788548" y="5222797"/>
            <a:ext cx="1307252" cy="1562459"/>
            <a:chOff x="2008240" y="4591624"/>
            <a:chExt cx="1307252" cy="1562459"/>
          </a:xfrm>
        </p:grpSpPr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8F54CE67-D52E-7E47-20F6-FEA4C453374D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8240" y="4591624"/>
              <a:ext cx="1164942" cy="1562459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358BBECC-6C15-992F-2037-2C2455C6AF93}"/>
                </a:ext>
              </a:extLst>
            </p:cNvPr>
            <p:cNvSpPr txBox="1"/>
            <p:nvPr/>
          </p:nvSpPr>
          <p:spPr>
            <a:xfrm>
              <a:off x="2041424" y="5278921"/>
              <a:ext cx="12740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latin typeface="Century Gothic" panose="020B0502020202020204" pitchFamily="34" charset="0"/>
                </a:rPr>
                <a:t>Драйвер записи карты</a:t>
              </a:r>
              <a:endParaRPr lang="en-US" sz="1600" dirty="0">
                <a:latin typeface="Century Gothic" panose="020B0502020202020204" pitchFamily="34" charset="0"/>
              </a:endParaRPr>
            </a:p>
          </p:txBody>
        </p:sp>
        <p:pic>
          <p:nvPicPr>
            <p:cNvPr id="45" name="Picture 44">
              <a:extLst>
                <a:ext uri="{FF2B5EF4-FFF2-40B4-BE49-F238E27FC236}">
                  <a16:creationId xmlns:a16="http://schemas.microsoft.com/office/drawing/2014/main" id="{872B8CBA-1FE8-450E-1183-4DF1802B2AF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2261" y="4863507"/>
              <a:ext cx="728960" cy="436884"/>
            </a:xfrm>
            <a:prstGeom prst="rect">
              <a:avLst/>
            </a:prstGeom>
          </p:spPr>
        </p:pic>
      </p:grpSp>
      <p:cxnSp>
        <p:nvCxnSpPr>
          <p:cNvPr id="29" name="Straight Arrow Connector 28"/>
          <p:cNvCxnSpPr>
            <a:cxnSpLocks/>
            <a:endCxn id="13" idx="1"/>
          </p:cNvCxnSpPr>
          <p:nvPr/>
        </p:nvCxnSpPr>
        <p:spPr>
          <a:xfrm>
            <a:off x="2172055" y="1982945"/>
            <a:ext cx="7198724" cy="0"/>
          </a:xfrm>
          <a:prstGeom prst="straightConnector1">
            <a:avLst/>
          </a:prstGeom>
          <a:ln w="57150">
            <a:solidFill>
              <a:srgbClr val="4D4D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Picture 5">
            <a:extLst>
              <a:ext uri="{FF2B5EF4-FFF2-40B4-BE49-F238E27FC236}">
                <a16:creationId xmlns:a16="http://schemas.microsoft.com/office/drawing/2014/main" id="{4C2BB202-4FCA-1003-4FD8-D73EBB1B2F16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68366" y="3724495"/>
            <a:ext cx="1272141" cy="762426"/>
          </a:xfrm>
          <a:prstGeom prst="rect">
            <a:avLst/>
          </a:prstGeom>
        </p:spPr>
      </p:pic>
      <p:grpSp>
        <p:nvGrpSpPr>
          <p:cNvPr id="26" name="Group 25">
            <a:extLst>
              <a:ext uri="{FF2B5EF4-FFF2-40B4-BE49-F238E27FC236}">
                <a16:creationId xmlns:a16="http://schemas.microsoft.com/office/drawing/2014/main" id="{81CE34D0-EE19-43A1-0A54-50FDC3E138F2}"/>
              </a:ext>
            </a:extLst>
          </p:cNvPr>
          <p:cNvGrpSpPr/>
          <p:nvPr/>
        </p:nvGrpSpPr>
        <p:grpSpPr>
          <a:xfrm>
            <a:off x="5457862" y="3790714"/>
            <a:ext cx="859777" cy="584775"/>
            <a:chOff x="5722721" y="5018774"/>
            <a:chExt cx="1157836" cy="787499"/>
          </a:xfrm>
        </p:grpSpPr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CEC84ECF-E301-9167-7DE1-79EDE227797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10800000">
              <a:off x="5722721" y="5018774"/>
              <a:ext cx="1146960" cy="342224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1D4A90F9-D5E2-0950-1E01-BB7CF9A1D4B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10800000" flipH="1">
              <a:off x="5733595" y="5464049"/>
              <a:ext cx="1146962" cy="342224"/>
            </a:xfrm>
            <a:prstGeom prst="rect">
              <a:avLst/>
            </a:prstGeom>
          </p:spPr>
        </p:pic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D46D93D2-77B9-F939-F91B-C906152E37EB}"/>
              </a:ext>
            </a:extLst>
          </p:cNvPr>
          <p:cNvGrpSpPr/>
          <p:nvPr/>
        </p:nvGrpSpPr>
        <p:grpSpPr>
          <a:xfrm>
            <a:off x="8662636" y="3752453"/>
            <a:ext cx="859777" cy="584775"/>
            <a:chOff x="5722721" y="5018774"/>
            <a:chExt cx="1157836" cy="787499"/>
          </a:xfrm>
        </p:grpSpPr>
        <p:pic>
          <p:nvPicPr>
            <p:cNvPr id="41" name="Picture 40">
              <a:extLst>
                <a:ext uri="{FF2B5EF4-FFF2-40B4-BE49-F238E27FC236}">
                  <a16:creationId xmlns:a16="http://schemas.microsoft.com/office/drawing/2014/main" id="{F5BF952A-586D-DF8D-4226-F2CCCEE5EA4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10800000">
              <a:off x="5722721" y="5018774"/>
              <a:ext cx="1146960" cy="342224"/>
            </a:xfrm>
            <a:prstGeom prst="rect">
              <a:avLst/>
            </a:prstGeom>
          </p:spPr>
        </p:pic>
        <p:pic>
          <p:nvPicPr>
            <p:cNvPr id="42" name="Picture 41">
              <a:extLst>
                <a:ext uri="{FF2B5EF4-FFF2-40B4-BE49-F238E27FC236}">
                  <a16:creationId xmlns:a16="http://schemas.microsoft.com/office/drawing/2014/main" id="{1594E80D-43BC-CDFB-F1DE-E9FBA2CDA94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/>
            <a:stretch>
              <a:fillRect/>
            </a:stretch>
          </p:blipFill>
          <p:spPr>
            <a:xfrm rot="10800000" flipH="1">
              <a:off x="5733595" y="5464049"/>
              <a:ext cx="1146962" cy="342224"/>
            </a:xfrm>
            <a:prstGeom prst="rect">
              <a:avLst/>
            </a:prstGeom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6654F96-E9BE-DA35-E423-5DAAB75D3BF5}"/>
              </a:ext>
            </a:extLst>
          </p:cNvPr>
          <p:cNvGrpSpPr/>
          <p:nvPr/>
        </p:nvGrpSpPr>
        <p:grpSpPr>
          <a:xfrm>
            <a:off x="1541128" y="3354968"/>
            <a:ext cx="1265206" cy="1562459"/>
            <a:chOff x="6698461" y="1494327"/>
            <a:chExt cx="1265206" cy="1562459"/>
          </a:xfrm>
        </p:grpSpPr>
        <p:pic>
          <p:nvPicPr>
            <p:cNvPr id="56" name="Picture 55">
              <a:extLst>
                <a:ext uri="{FF2B5EF4-FFF2-40B4-BE49-F238E27FC236}">
                  <a16:creationId xmlns:a16="http://schemas.microsoft.com/office/drawing/2014/main" id="{58CE8DA4-7DE9-DBAD-97A7-C363FF0C18CB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8808" y="1494327"/>
              <a:ext cx="1164942" cy="1562459"/>
            </a:xfrm>
            <a:prstGeom prst="rect">
              <a:avLst/>
            </a:prstGeom>
          </p:spPr>
        </p:pic>
        <p:pic>
          <p:nvPicPr>
            <p:cNvPr id="57" name="Picture 56">
              <a:extLst>
                <a:ext uri="{FF2B5EF4-FFF2-40B4-BE49-F238E27FC236}">
                  <a16:creationId xmlns:a16="http://schemas.microsoft.com/office/drawing/2014/main" id="{9F29338C-911D-3D23-06AA-925043D7303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5284" y="1619902"/>
              <a:ext cx="851560" cy="620342"/>
            </a:xfrm>
            <a:prstGeom prst="rect">
              <a:avLst/>
            </a:prstGeom>
          </p:spPr>
        </p:pic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44783CF9-1097-500D-249C-A4DA97DDD45B}"/>
                </a:ext>
              </a:extLst>
            </p:cNvPr>
            <p:cNvSpPr txBox="1"/>
            <p:nvPr/>
          </p:nvSpPr>
          <p:spPr>
            <a:xfrm>
              <a:off x="6698461" y="2239568"/>
              <a:ext cx="1265206" cy="73866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dirty="0">
                  <a:latin typeface="Century Gothic" panose="020B0502020202020204" pitchFamily="34" charset="0"/>
                </a:rPr>
                <a:t>Chip</a:t>
              </a:r>
            </a:p>
            <a:p>
              <a:pPr algn="ctr"/>
              <a:r>
                <a:rPr lang="en-US" sz="1400" dirty="0">
                  <a:latin typeface="Century Gothic" panose="020B0502020202020204" pitchFamily="34" charset="0"/>
                </a:rPr>
                <a:t>Writer</a:t>
              </a:r>
            </a:p>
            <a:p>
              <a:pPr algn="ctr"/>
              <a:r>
                <a:rPr lang="en-US" sz="1400" dirty="0">
                  <a:latin typeface="Century Gothic" panose="020B0502020202020204" pitchFamily="34" charset="0"/>
                </a:rPr>
                <a:t>Driver</a:t>
              </a:r>
            </a:p>
          </p:txBody>
        </p:sp>
      </p:grpSp>
      <p:pic>
        <p:nvPicPr>
          <p:cNvPr id="61" name="Picture 60">
            <a:extLst>
              <a:ext uri="{FF2B5EF4-FFF2-40B4-BE49-F238E27FC236}">
                <a16:creationId xmlns:a16="http://schemas.microsoft.com/office/drawing/2014/main" id="{AD5D77DF-8935-90A0-FB2F-0AE93475751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0800000" flipH="1">
            <a:off x="2832962" y="4003986"/>
            <a:ext cx="886216" cy="264424"/>
          </a:xfrm>
          <a:prstGeom prst="rect">
            <a:avLst/>
          </a:prstGeom>
        </p:spPr>
      </p:pic>
      <p:sp>
        <p:nvSpPr>
          <p:cNvPr id="63" name="Slide Number Placeholder 62">
            <a:extLst>
              <a:ext uri="{FF2B5EF4-FFF2-40B4-BE49-F238E27FC236}">
                <a16:creationId xmlns:a16="http://schemas.microsoft.com/office/drawing/2014/main" id="{07C019B1-715C-AB6B-ED8C-B62D3E0063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51674" y="6547086"/>
            <a:ext cx="2743200" cy="365125"/>
          </a:xfrm>
        </p:spPr>
        <p:txBody>
          <a:bodyPr/>
          <a:lstStyle/>
          <a:p>
            <a:fld id="{471AB917-4A67-459A-ADEA-E0250FA5C43E}" type="slidenum">
              <a:rPr lang="ru-RU" smtClean="0"/>
              <a:t>8</a:t>
            </a:fld>
            <a:endParaRPr lang="ru-RU"/>
          </a:p>
        </p:txBody>
      </p: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6596FDAE-0869-AD91-AC57-FE72C146D4AE}"/>
              </a:ext>
            </a:extLst>
          </p:cNvPr>
          <p:cNvCxnSpPr>
            <a:cxnSpLocks/>
          </p:cNvCxnSpPr>
          <p:nvPr/>
        </p:nvCxnSpPr>
        <p:spPr>
          <a:xfrm flipH="1" flipV="1">
            <a:off x="2172055" y="2533809"/>
            <a:ext cx="7198724" cy="23999"/>
          </a:xfrm>
          <a:prstGeom prst="straightConnector1">
            <a:avLst/>
          </a:prstGeom>
          <a:ln w="57150">
            <a:solidFill>
              <a:srgbClr val="4D4D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Arrow Connector 63">
            <a:extLst>
              <a:ext uri="{FF2B5EF4-FFF2-40B4-BE49-F238E27FC236}">
                <a16:creationId xmlns:a16="http://schemas.microsoft.com/office/drawing/2014/main" id="{E1721875-13FE-66BF-4A7E-40203F0A5786}"/>
              </a:ext>
            </a:extLst>
          </p:cNvPr>
          <p:cNvCxnSpPr>
            <a:cxnSpLocks/>
          </p:cNvCxnSpPr>
          <p:nvPr/>
        </p:nvCxnSpPr>
        <p:spPr>
          <a:xfrm>
            <a:off x="4048318" y="4878994"/>
            <a:ext cx="0" cy="330803"/>
          </a:xfrm>
          <a:prstGeom prst="straightConnector1">
            <a:avLst/>
          </a:prstGeom>
          <a:ln w="57150">
            <a:solidFill>
              <a:srgbClr val="4D4D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5C669222-507E-4E17-CA01-91029B54BF4A}"/>
              </a:ext>
            </a:extLst>
          </p:cNvPr>
          <p:cNvCxnSpPr>
            <a:cxnSpLocks/>
          </p:cNvCxnSpPr>
          <p:nvPr/>
        </p:nvCxnSpPr>
        <p:spPr>
          <a:xfrm flipV="1">
            <a:off x="4611382" y="4894731"/>
            <a:ext cx="0" cy="359965"/>
          </a:xfrm>
          <a:prstGeom prst="straightConnector1">
            <a:avLst/>
          </a:prstGeom>
          <a:ln w="57150">
            <a:solidFill>
              <a:srgbClr val="4D4D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Arrow Connector 70">
            <a:extLst>
              <a:ext uri="{FF2B5EF4-FFF2-40B4-BE49-F238E27FC236}">
                <a16:creationId xmlns:a16="http://schemas.microsoft.com/office/drawing/2014/main" id="{5156E54C-61DF-CCD3-D68C-223357D82704}"/>
              </a:ext>
            </a:extLst>
          </p:cNvPr>
          <p:cNvCxnSpPr>
            <a:cxnSpLocks/>
          </p:cNvCxnSpPr>
          <p:nvPr/>
        </p:nvCxnSpPr>
        <p:spPr>
          <a:xfrm>
            <a:off x="1383036" y="3024165"/>
            <a:ext cx="491305" cy="330803"/>
          </a:xfrm>
          <a:prstGeom prst="straightConnector1">
            <a:avLst/>
          </a:prstGeom>
          <a:ln w="57150">
            <a:solidFill>
              <a:srgbClr val="4D4D4E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1" name="Picture 30">
            <a:extLst>
              <a:ext uri="{FF2B5EF4-FFF2-40B4-BE49-F238E27FC236}">
                <a16:creationId xmlns:a16="http://schemas.microsoft.com/office/drawing/2014/main" id="{741D210E-BC0D-1B12-B66D-7FBE430C7A2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 rot="12680291" flipH="1">
            <a:off x="2817148" y="5020156"/>
            <a:ext cx="886216" cy="264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00165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C63B4-34B1-0B5B-C6C4-02F1837ACF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>
            <a:extLst>
              <a:ext uri="{FF2B5EF4-FFF2-40B4-BE49-F238E27FC236}">
                <a16:creationId xmlns:a16="http://schemas.microsoft.com/office/drawing/2014/main" id="{551237D4-30A4-174F-F4B2-6EB4F6F2B8A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CD9A7C3-5246-6D4E-CB0B-DBB08438BCED}"/>
              </a:ext>
            </a:extLst>
          </p:cNvPr>
          <p:cNvSpPr txBox="1"/>
          <p:nvPr/>
        </p:nvSpPr>
        <p:spPr>
          <a:xfrm>
            <a:off x="2906973" y="4367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40055EC-0780-03F6-45DB-0F0588B56077}"/>
              </a:ext>
            </a:extLst>
          </p:cNvPr>
          <p:cNvSpPr txBox="1"/>
          <p:nvPr/>
        </p:nvSpPr>
        <p:spPr>
          <a:xfrm>
            <a:off x="1379897" y="168153"/>
            <a:ext cx="95413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Проектное решение модуля обработки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C071E09D-DE82-1C14-5978-CDBCB9036CFD}"/>
              </a:ext>
            </a:extLst>
          </p:cNvPr>
          <p:cNvSpPr/>
          <p:nvPr/>
        </p:nvSpPr>
        <p:spPr>
          <a:xfrm>
            <a:off x="109183" y="1041023"/>
            <a:ext cx="12082817" cy="586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/>
              <a:t>	</a:t>
            </a:r>
            <a:endParaRPr lang="ru-RU" sz="2000" dirty="0">
              <a:latin typeface="Century Gothic" panose="020B0502020202020204" pitchFamily="34" charset="0"/>
            </a:endParaRPr>
          </a:p>
        </p:txBody>
      </p:sp>
      <p:grpSp>
        <p:nvGrpSpPr>
          <p:cNvPr id="65" name="Group 64">
            <a:extLst>
              <a:ext uri="{FF2B5EF4-FFF2-40B4-BE49-F238E27FC236}">
                <a16:creationId xmlns:a16="http://schemas.microsoft.com/office/drawing/2014/main" id="{A4EADB70-62BB-402D-1927-01F2B1DF89A5}"/>
              </a:ext>
            </a:extLst>
          </p:cNvPr>
          <p:cNvGrpSpPr/>
          <p:nvPr/>
        </p:nvGrpSpPr>
        <p:grpSpPr>
          <a:xfrm>
            <a:off x="296657" y="2426069"/>
            <a:ext cx="2103407" cy="2597590"/>
            <a:chOff x="6698461" y="1494327"/>
            <a:chExt cx="1265206" cy="1562459"/>
          </a:xfrm>
        </p:grpSpPr>
        <p:pic>
          <p:nvPicPr>
            <p:cNvPr id="66" name="Picture 65">
              <a:extLst>
                <a:ext uri="{FF2B5EF4-FFF2-40B4-BE49-F238E27FC236}">
                  <a16:creationId xmlns:a16="http://schemas.microsoft.com/office/drawing/2014/main" id="{678EF7BB-351E-23D4-D349-2889D41BD2AD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48808" y="1494327"/>
              <a:ext cx="1164942" cy="1562459"/>
            </a:xfrm>
            <a:prstGeom prst="rect">
              <a:avLst/>
            </a:prstGeom>
          </p:spPr>
        </p:pic>
        <p:pic>
          <p:nvPicPr>
            <p:cNvPr id="67" name="Picture 66">
              <a:extLst>
                <a:ext uri="{FF2B5EF4-FFF2-40B4-BE49-F238E27FC236}">
                  <a16:creationId xmlns:a16="http://schemas.microsoft.com/office/drawing/2014/main" id="{B18E4568-A62A-BD98-C152-D08F1E9C071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905284" y="1619902"/>
              <a:ext cx="851560" cy="620342"/>
            </a:xfrm>
            <a:prstGeom prst="rect">
              <a:avLst/>
            </a:prstGeom>
          </p:spPr>
        </p:pic>
        <p:sp>
          <p:nvSpPr>
            <p:cNvPr id="68" name="TextBox 67">
              <a:extLst>
                <a:ext uri="{FF2B5EF4-FFF2-40B4-BE49-F238E27FC236}">
                  <a16:creationId xmlns:a16="http://schemas.microsoft.com/office/drawing/2014/main" id="{E275BB04-81A4-73F5-1CD8-C7C513C2AD94}"/>
                </a:ext>
              </a:extLst>
            </p:cNvPr>
            <p:cNvSpPr txBox="1"/>
            <p:nvPr/>
          </p:nvSpPr>
          <p:spPr>
            <a:xfrm>
              <a:off x="6698461" y="2243686"/>
              <a:ext cx="1265206" cy="72200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400" dirty="0">
                  <a:latin typeface="Century Gothic" panose="020B0502020202020204" pitchFamily="34" charset="0"/>
                </a:rPr>
                <a:t>Chip</a:t>
              </a:r>
            </a:p>
            <a:p>
              <a:pPr algn="ctr"/>
              <a:r>
                <a:rPr lang="en-US" sz="2400" dirty="0">
                  <a:latin typeface="Century Gothic" panose="020B0502020202020204" pitchFamily="34" charset="0"/>
                </a:rPr>
                <a:t>Writer</a:t>
              </a:r>
            </a:p>
            <a:p>
              <a:pPr algn="ctr"/>
              <a:r>
                <a:rPr lang="en-US" sz="2400" dirty="0">
                  <a:latin typeface="Century Gothic" panose="020B0502020202020204" pitchFamily="34" charset="0"/>
                </a:rPr>
                <a:t>Driver</a:t>
              </a:r>
            </a:p>
          </p:txBody>
        </p:sp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D00ABA0D-4009-ABD7-A879-2266D8CA1C5A}"/>
              </a:ext>
            </a:extLst>
          </p:cNvPr>
          <p:cNvSpPr/>
          <p:nvPr/>
        </p:nvSpPr>
        <p:spPr>
          <a:xfrm>
            <a:off x="2879953" y="2377041"/>
            <a:ext cx="2804845" cy="626607"/>
          </a:xfrm>
          <a:prstGeom prst="rect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entury Gothic" panose="020B0502020202020204" pitchFamily="34" charset="0"/>
              </a:rPr>
              <a:t>void Start()</a:t>
            </a:r>
          </a:p>
        </p:txBody>
      </p:sp>
      <p:cxnSp>
        <p:nvCxnSpPr>
          <p:cNvPr id="6" name="Connector: Elbow 5">
            <a:extLst>
              <a:ext uri="{FF2B5EF4-FFF2-40B4-BE49-F238E27FC236}">
                <a16:creationId xmlns:a16="http://schemas.microsoft.com/office/drawing/2014/main" id="{9443DD03-4BFC-8535-23DE-6A9C1D6ABF51}"/>
              </a:ext>
            </a:extLst>
          </p:cNvPr>
          <p:cNvCxnSpPr>
            <a:cxnSpLocks/>
            <a:stCxn id="66" idx="3"/>
            <a:endCxn id="3" idx="1"/>
          </p:cNvCxnSpPr>
          <p:nvPr/>
        </p:nvCxnSpPr>
        <p:spPr>
          <a:xfrm flipV="1">
            <a:off x="2317077" y="2690345"/>
            <a:ext cx="562876" cy="1034519"/>
          </a:xfrm>
          <a:prstGeom prst="bentConnector3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" name="Group 9">
            <a:extLst>
              <a:ext uri="{FF2B5EF4-FFF2-40B4-BE49-F238E27FC236}">
                <a16:creationId xmlns:a16="http://schemas.microsoft.com/office/drawing/2014/main" id="{DE9F3ABF-FB29-6A72-767B-E259958F9213}"/>
              </a:ext>
            </a:extLst>
          </p:cNvPr>
          <p:cNvGrpSpPr/>
          <p:nvPr/>
        </p:nvGrpSpPr>
        <p:grpSpPr>
          <a:xfrm>
            <a:off x="10775298" y="1222360"/>
            <a:ext cx="1321445" cy="1562459"/>
            <a:chOff x="4459057" y="4591624"/>
            <a:chExt cx="1321445" cy="1562459"/>
          </a:xfrm>
        </p:grpSpPr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E8F245C3-B189-75AD-D1E3-C86A1199F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9057" y="4591624"/>
              <a:ext cx="1164942" cy="1562459"/>
            </a:xfrm>
            <a:prstGeom prst="rect">
              <a:avLst/>
            </a:prstGeom>
          </p:spPr>
        </p:pic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34A5649C-011E-CF07-7837-0276FD0FB7F5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15748" y="4727446"/>
              <a:ext cx="851560" cy="620342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6D1ACD4-2296-21EA-AA89-06F69C8241D5}"/>
                </a:ext>
              </a:extLst>
            </p:cNvPr>
            <p:cNvSpPr txBox="1"/>
            <p:nvPr/>
          </p:nvSpPr>
          <p:spPr>
            <a:xfrm>
              <a:off x="4506434" y="5395317"/>
              <a:ext cx="12740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latin typeface="Century Gothic" panose="020B0502020202020204" pitchFamily="34" charset="0"/>
                </a:rPr>
                <a:t>Драйвер </a:t>
              </a:r>
            </a:p>
            <a:p>
              <a:r>
                <a:rPr lang="en-US" sz="1600" dirty="0">
                  <a:latin typeface="Century Gothic" panose="020B0502020202020204" pitchFamily="34" charset="0"/>
                </a:rPr>
                <a:t>MATICA</a:t>
              </a:r>
              <a:endParaRPr lang="ru-RU" sz="16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6" name="Group 15">
            <a:extLst>
              <a:ext uri="{FF2B5EF4-FFF2-40B4-BE49-F238E27FC236}">
                <a16:creationId xmlns:a16="http://schemas.microsoft.com/office/drawing/2014/main" id="{7D4C856E-69D3-F119-5F0F-5A4B247EF62A}"/>
              </a:ext>
            </a:extLst>
          </p:cNvPr>
          <p:cNvGrpSpPr/>
          <p:nvPr/>
        </p:nvGrpSpPr>
        <p:grpSpPr>
          <a:xfrm>
            <a:off x="9402894" y="1213199"/>
            <a:ext cx="1307252" cy="1562459"/>
            <a:chOff x="2008240" y="4591624"/>
            <a:chExt cx="1307252" cy="1562459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2CF9ADBE-7F19-7626-C073-542FB6E86AE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8240" y="4591624"/>
              <a:ext cx="1164942" cy="1562459"/>
            </a:xfrm>
            <a:prstGeom prst="rect">
              <a:avLst/>
            </a:prstGeom>
          </p:spPr>
        </p:pic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824FBFEF-47CC-06B7-2EB4-79500A231416}"/>
                </a:ext>
              </a:extLst>
            </p:cNvPr>
            <p:cNvSpPr txBox="1"/>
            <p:nvPr/>
          </p:nvSpPr>
          <p:spPr>
            <a:xfrm>
              <a:off x="2041424" y="5278921"/>
              <a:ext cx="127406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latin typeface="Century Gothic" panose="020B0502020202020204" pitchFamily="34" charset="0"/>
                </a:rPr>
                <a:t>Драйвер записи карты</a:t>
              </a:r>
              <a:endParaRPr lang="en-US" sz="1600" dirty="0">
                <a:latin typeface="Century Gothic" panose="020B0502020202020204" pitchFamily="34" charset="0"/>
              </a:endParaRPr>
            </a:p>
          </p:txBody>
        </p:sp>
        <p:pic>
          <p:nvPicPr>
            <p:cNvPr id="20" name="Picture 19">
              <a:extLst>
                <a:ext uri="{FF2B5EF4-FFF2-40B4-BE49-F238E27FC236}">
                  <a16:creationId xmlns:a16="http://schemas.microsoft.com/office/drawing/2014/main" id="{D59FC00E-CB4F-DA77-0170-6C4745F2C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2261" y="4863507"/>
              <a:ext cx="728960" cy="436884"/>
            </a:xfrm>
            <a:prstGeom prst="rect">
              <a:avLst/>
            </a:prstGeom>
          </p:spPr>
        </p:pic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ADE67C36-B6B6-BEEC-C9CF-2F9675FBF445}"/>
              </a:ext>
            </a:extLst>
          </p:cNvPr>
          <p:cNvSpPr/>
          <p:nvPr/>
        </p:nvSpPr>
        <p:spPr>
          <a:xfrm>
            <a:off x="7400260" y="3234951"/>
            <a:ext cx="2703229" cy="687297"/>
          </a:xfrm>
          <a:prstGeom prst="rect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latin typeface="Century Gothic" panose="020B0502020202020204" pitchFamily="34" charset="0"/>
              </a:rPr>
              <a:t>void Start()</a:t>
            </a:r>
          </a:p>
        </p:txBody>
      </p:sp>
      <p:grpSp>
        <p:nvGrpSpPr>
          <p:cNvPr id="52" name="Group 51">
            <a:extLst>
              <a:ext uri="{FF2B5EF4-FFF2-40B4-BE49-F238E27FC236}">
                <a16:creationId xmlns:a16="http://schemas.microsoft.com/office/drawing/2014/main" id="{0D19DEE1-3A2E-4D29-B086-87E9AF69FB70}"/>
              </a:ext>
            </a:extLst>
          </p:cNvPr>
          <p:cNvGrpSpPr/>
          <p:nvPr/>
        </p:nvGrpSpPr>
        <p:grpSpPr>
          <a:xfrm rot="16200000">
            <a:off x="8506838" y="5107457"/>
            <a:ext cx="490073" cy="333322"/>
            <a:chOff x="9590966" y="4185349"/>
            <a:chExt cx="1157836" cy="787499"/>
          </a:xfrm>
        </p:grpSpPr>
        <p:pic>
          <p:nvPicPr>
            <p:cNvPr id="50" name="Picture 49">
              <a:extLst>
                <a:ext uri="{FF2B5EF4-FFF2-40B4-BE49-F238E27FC236}">
                  <a16:creationId xmlns:a16="http://schemas.microsoft.com/office/drawing/2014/main" id="{18A56A1B-C84B-E09A-3B41-68361A5751BC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9590966" y="4185349"/>
              <a:ext cx="1146960" cy="342224"/>
            </a:xfrm>
            <a:prstGeom prst="rect">
              <a:avLst/>
            </a:prstGeom>
          </p:spPr>
        </p:pic>
        <p:pic>
          <p:nvPicPr>
            <p:cNvPr id="51" name="Picture 50">
              <a:extLst>
                <a:ext uri="{FF2B5EF4-FFF2-40B4-BE49-F238E27FC236}">
                  <a16:creationId xmlns:a16="http://schemas.microsoft.com/office/drawing/2014/main" id="{53DE1425-4595-F69F-F29C-49278A1C0337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 flipH="1">
              <a:off x="9601840" y="4630624"/>
              <a:ext cx="1146962" cy="342224"/>
            </a:xfrm>
            <a:prstGeom prst="rect">
              <a:avLst/>
            </a:prstGeom>
          </p:spPr>
        </p:pic>
      </p:grpSp>
      <p:grpSp>
        <p:nvGrpSpPr>
          <p:cNvPr id="97" name="Group 96">
            <a:extLst>
              <a:ext uri="{FF2B5EF4-FFF2-40B4-BE49-F238E27FC236}">
                <a16:creationId xmlns:a16="http://schemas.microsoft.com/office/drawing/2014/main" id="{AB5117B4-182D-745C-612B-A28582578C04}"/>
              </a:ext>
            </a:extLst>
          </p:cNvPr>
          <p:cNvGrpSpPr/>
          <p:nvPr/>
        </p:nvGrpSpPr>
        <p:grpSpPr>
          <a:xfrm>
            <a:off x="7400260" y="5568268"/>
            <a:ext cx="2703769" cy="1171441"/>
            <a:chOff x="7861714" y="5230663"/>
            <a:chExt cx="2020105" cy="1514605"/>
          </a:xfrm>
        </p:grpSpPr>
        <p:sp>
          <p:nvSpPr>
            <p:cNvPr id="69" name="Rectangle 68">
              <a:extLst>
                <a:ext uri="{FF2B5EF4-FFF2-40B4-BE49-F238E27FC236}">
                  <a16:creationId xmlns:a16="http://schemas.microsoft.com/office/drawing/2014/main" id="{4F02574B-14D2-9178-F706-53856FD7D1F4}"/>
                </a:ext>
              </a:extLst>
            </p:cNvPr>
            <p:cNvSpPr/>
            <p:nvPr/>
          </p:nvSpPr>
          <p:spPr>
            <a:xfrm>
              <a:off x="7861714" y="5230663"/>
              <a:ext cx="2019704" cy="1514605"/>
            </a:xfrm>
            <a:prstGeom prst="rect">
              <a:avLst/>
            </a:prstGeom>
            <a:noFill/>
            <a:ln w="76200">
              <a:solidFill>
                <a:schemeClr val="accent1">
                  <a:lumMod val="50000"/>
                </a:schemeClr>
              </a:solidFill>
            </a:ln>
          </p:spPr>
          <p:style>
            <a:lnRef idx="2">
              <a:schemeClr val="accent6"/>
            </a:lnRef>
            <a:fillRef idx="1">
              <a:schemeClr val="lt1"/>
            </a:fillRef>
            <a:effectRef idx="0">
              <a:schemeClr val="accent6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en-US" sz="2400" dirty="0">
                <a:latin typeface="Century Gothic" panose="020B0502020202020204" pitchFamily="34" charset="0"/>
              </a:endParaRPr>
            </a:p>
          </p:txBody>
        </p:sp>
        <p:sp>
          <p:nvSpPr>
            <p:cNvPr id="72" name="TextBox 71">
              <a:extLst>
                <a:ext uri="{FF2B5EF4-FFF2-40B4-BE49-F238E27FC236}">
                  <a16:creationId xmlns:a16="http://schemas.microsoft.com/office/drawing/2014/main" id="{B2002098-8945-D6A9-0203-4F54D5A417CD}"/>
                </a:ext>
              </a:extLst>
            </p:cNvPr>
            <p:cNvSpPr txBox="1"/>
            <p:nvPr/>
          </p:nvSpPr>
          <p:spPr>
            <a:xfrm>
              <a:off x="7861714" y="5353070"/>
              <a:ext cx="2020105" cy="107721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285750" indent="-285750">
                <a:buFont typeface="Calibri" panose="020F0502020204030204" pitchFamily="34" charset="0"/>
                <a:buChar char="―"/>
              </a:pPr>
              <a:r>
                <a:rPr lang="en-US" sz="1600" dirty="0">
                  <a:latin typeface="Century Gothic" panose="020B0502020202020204" pitchFamily="34" charset="0"/>
                </a:rPr>
                <a:t>Send()</a:t>
              </a:r>
              <a:endParaRPr lang="ru-RU" sz="1600" dirty="0">
                <a:latin typeface="Century Gothic" panose="020B0502020202020204" pitchFamily="34" charset="0"/>
              </a:endParaRPr>
            </a:p>
            <a:p>
              <a:pPr marL="285750" indent="-285750">
                <a:buFont typeface="Calibri" panose="020F0502020204030204" pitchFamily="34" charset="0"/>
                <a:buChar char="―"/>
              </a:pPr>
              <a:r>
                <a:rPr lang="en-US" sz="1600" dirty="0" err="1">
                  <a:latin typeface="Century Gothic" panose="020B0502020202020204" pitchFamily="34" charset="0"/>
                </a:rPr>
                <a:t>CardConnect</a:t>
              </a:r>
              <a:r>
                <a:rPr lang="en-US" sz="1600" dirty="0">
                  <a:latin typeface="Century Gothic" panose="020B0502020202020204" pitchFamily="34" charset="0"/>
                </a:rPr>
                <a:t>()</a:t>
              </a:r>
            </a:p>
            <a:p>
              <a:pPr marL="285750" indent="-285750">
                <a:buFont typeface="Calibri" panose="020F0502020204030204" pitchFamily="34" charset="0"/>
                <a:buChar char="―"/>
              </a:pPr>
              <a:r>
                <a:rPr lang="en-US" sz="1600" dirty="0" err="1">
                  <a:latin typeface="Century Gothic" panose="020B0502020202020204" pitchFamily="34" charset="0"/>
                </a:rPr>
                <a:t>CardClose</a:t>
              </a:r>
              <a:r>
                <a:rPr lang="en-US" sz="1600" dirty="0">
                  <a:latin typeface="Century Gothic" panose="020B0502020202020204" pitchFamily="34" charset="0"/>
                </a:rPr>
                <a:t>()</a:t>
              </a:r>
              <a:endParaRPr lang="ru-RU" sz="1600" dirty="0">
                <a:latin typeface="Century Gothic" panose="020B0502020202020204" pitchFamily="34" charset="0"/>
              </a:endParaRPr>
            </a:p>
            <a:p>
              <a:pPr marL="285750" indent="-285750">
                <a:buFont typeface="Calibri" panose="020F0502020204030204" pitchFamily="34" charset="0"/>
                <a:buChar char="―"/>
              </a:pPr>
              <a:r>
                <a:rPr lang="ru-RU" sz="1600" dirty="0">
                  <a:latin typeface="Century Gothic" panose="020B0502020202020204" pitchFamily="34" charset="0"/>
                </a:rPr>
                <a:t>...</a:t>
              </a:r>
            </a:p>
          </p:txBody>
        </p:sp>
      </p:grpSp>
      <p:sp>
        <p:nvSpPr>
          <p:cNvPr id="70" name="Rectangle 69">
            <a:extLst>
              <a:ext uri="{FF2B5EF4-FFF2-40B4-BE49-F238E27FC236}">
                <a16:creationId xmlns:a16="http://schemas.microsoft.com/office/drawing/2014/main" id="{E0A68236-E8D3-A095-2560-884CEC387846}"/>
              </a:ext>
            </a:extLst>
          </p:cNvPr>
          <p:cNvSpPr/>
          <p:nvPr/>
        </p:nvSpPr>
        <p:spPr>
          <a:xfrm>
            <a:off x="3435943" y="4153553"/>
            <a:ext cx="3366529" cy="626607"/>
          </a:xfrm>
          <a:prstGeom prst="rect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void </a:t>
            </a:r>
            <a:r>
              <a:rPr lang="en-US" dirty="0" err="1">
                <a:latin typeface="Century Gothic" panose="020B0502020202020204" pitchFamily="34" charset="0"/>
              </a:rPr>
              <a:t>StartReaderInterfaces</a:t>
            </a:r>
            <a:r>
              <a:rPr lang="en-US" dirty="0">
                <a:latin typeface="Century Gothic" panose="020B0502020202020204" pitchFamily="34" charset="0"/>
              </a:rPr>
              <a:t>()</a:t>
            </a:r>
          </a:p>
        </p:txBody>
      </p:sp>
      <p:sp>
        <p:nvSpPr>
          <p:cNvPr id="80" name="Rectangle 79">
            <a:extLst>
              <a:ext uri="{FF2B5EF4-FFF2-40B4-BE49-F238E27FC236}">
                <a16:creationId xmlns:a16="http://schemas.microsoft.com/office/drawing/2014/main" id="{80E35C4F-18E8-A43D-69E5-C072A7E237F7}"/>
              </a:ext>
            </a:extLst>
          </p:cNvPr>
          <p:cNvSpPr/>
          <p:nvPr/>
        </p:nvSpPr>
        <p:spPr>
          <a:xfrm>
            <a:off x="7400260" y="1088318"/>
            <a:ext cx="4649429" cy="1824113"/>
          </a:xfrm>
          <a:prstGeom prst="rect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sz="2400" dirty="0">
              <a:latin typeface="Century Gothic" panose="020B0502020202020204" pitchFamily="34" charset="0"/>
            </a:endParaRPr>
          </a:p>
        </p:txBody>
      </p:sp>
      <p:cxnSp>
        <p:nvCxnSpPr>
          <p:cNvPr id="81" name="Straight Arrow Connector 80">
            <a:extLst>
              <a:ext uri="{FF2B5EF4-FFF2-40B4-BE49-F238E27FC236}">
                <a16:creationId xmlns:a16="http://schemas.microsoft.com/office/drawing/2014/main" id="{CBFAD933-3AB1-0840-00A4-F05B4C98774A}"/>
              </a:ext>
            </a:extLst>
          </p:cNvPr>
          <p:cNvCxnSpPr/>
          <p:nvPr/>
        </p:nvCxnSpPr>
        <p:spPr>
          <a:xfrm flipH="1">
            <a:off x="7968189" y="2930698"/>
            <a:ext cx="1" cy="281466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Elbow Connector 82">
            <a:extLst>
              <a:ext uri="{FF2B5EF4-FFF2-40B4-BE49-F238E27FC236}">
                <a16:creationId xmlns:a16="http://schemas.microsoft.com/office/drawing/2014/main" id="{297ED4CB-1C93-DDA3-6A3C-52E5A572C13F}"/>
              </a:ext>
            </a:extLst>
          </p:cNvPr>
          <p:cNvCxnSpPr>
            <a:cxnSpLocks/>
            <a:stCxn id="3" idx="3"/>
            <a:endCxn id="80" idx="1"/>
          </p:cNvCxnSpPr>
          <p:nvPr/>
        </p:nvCxnSpPr>
        <p:spPr>
          <a:xfrm flipV="1">
            <a:off x="5684798" y="2000375"/>
            <a:ext cx="1715462" cy="689970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Rectangle 90">
            <a:extLst>
              <a:ext uri="{FF2B5EF4-FFF2-40B4-BE49-F238E27FC236}">
                <a16:creationId xmlns:a16="http://schemas.microsoft.com/office/drawing/2014/main" id="{1E25A2D5-8D8A-2D87-D0AC-8DF68C17D942}"/>
              </a:ext>
            </a:extLst>
          </p:cNvPr>
          <p:cNvSpPr/>
          <p:nvPr/>
        </p:nvSpPr>
        <p:spPr>
          <a:xfrm>
            <a:off x="7400260" y="4254535"/>
            <a:ext cx="2703769" cy="687297"/>
          </a:xfrm>
          <a:prstGeom prst="rect">
            <a:avLst/>
          </a:prstGeom>
          <a:noFill/>
          <a:ln w="7620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>
                <a:latin typeface="Century Gothic" panose="020B0502020202020204" pitchFamily="34" charset="0"/>
              </a:rPr>
              <a:t>void Personalization()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7BCEB30-4211-FB34-F055-6C305D5CCE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362641" y="6412721"/>
            <a:ext cx="2743200" cy="365125"/>
          </a:xfrm>
        </p:spPr>
        <p:txBody>
          <a:bodyPr/>
          <a:lstStyle/>
          <a:p>
            <a:fld id="{471AB917-4A67-459A-ADEA-E0250FA5C43E}" type="slidenum">
              <a:rPr lang="ru-RU" smtClean="0"/>
              <a:t>9</a:t>
            </a:fld>
            <a:endParaRPr lang="ru-RU"/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B847A69D-E300-BAF4-AE25-C679A50CDB75}"/>
              </a:ext>
            </a:extLst>
          </p:cNvPr>
          <p:cNvCxnSpPr>
            <a:stCxn id="3" idx="2"/>
          </p:cNvCxnSpPr>
          <p:nvPr/>
        </p:nvCxnSpPr>
        <p:spPr>
          <a:xfrm flipH="1">
            <a:off x="4282375" y="3003648"/>
            <a:ext cx="1" cy="1149905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Connector: Elbow 48">
            <a:extLst>
              <a:ext uri="{FF2B5EF4-FFF2-40B4-BE49-F238E27FC236}">
                <a16:creationId xmlns:a16="http://schemas.microsoft.com/office/drawing/2014/main" id="{368CDFF7-C7BB-2D4F-41BB-A8543C0F3AEC}"/>
              </a:ext>
            </a:extLst>
          </p:cNvPr>
          <p:cNvCxnSpPr>
            <a:cxnSpLocks/>
            <a:stCxn id="70" idx="3"/>
            <a:endCxn id="80" idx="1"/>
          </p:cNvCxnSpPr>
          <p:nvPr/>
        </p:nvCxnSpPr>
        <p:spPr>
          <a:xfrm flipV="1">
            <a:off x="6802472" y="2000375"/>
            <a:ext cx="597788" cy="2466482"/>
          </a:xfrm>
          <a:prstGeom prst="bentConnector3">
            <a:avLst>
              <a:gd name="adj1" fmla="val 50000"/>
            </a:avLst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TextBox 78">
            <a:extLst>
              <a:ext uri="{FF2B5EF4-FFF2-40B4-BE49-F238E27FC236}">
                <a16:creationId xmlns:a16="http://schemas.microsoft.com/office/drawing/2014/main" id="{CABA0D0D-75B1-F142-D8D9-CD5F59792DC8}"/>
              </a:ext>
            </a:extLst>
          </p:cNvPr>
          <p:cNvSpPr txBox="1"/>
          <p:nvPr/>
        </p:nvSpPr>
        <p:spPr>
          <a:xfrm>
            <a:off x="7524588" y="1118461"/>
            <a:ext cx="182133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800" dirty="0">
                <a:cs typeface="Times New Roman" panose="02020603050405020304" pitchFamily="18" charset="0"/>
              </a:rPr>
              <a:t>Инстанция</a:t>
            </a:r>
          </a:p>
        </p:txBody>
      </p:sp>
      <p:cxnSp>
        <p:nvCxnSpPr>
          <p:cNvPr id="86" name="Straight Arrow Connector 85">
            <a:extLst>
              <a:ext uri="{FF2B5EF4-FFF2-40B4-BE49-F238E27FC236}">
                <a16:creationId xmlns:a16="http://schemas.microsoft.com/office/drawing/2014/main" id="{96FAF616-21C4-EF25-D17A-842A8AAEB52C}"/>
              </a:ext>
            </a:extLst>
          </p:cNvPr>
          <p:cNvCxnSpPr>
            <a:cxnSpLocks/>
          </p:cNvCxnSpPr>
          <p:nvPr/>
        </p:nvCxnSpPr>
        <p:spPr>
          <a:xfrm>
            <a:off x="7968189" y="3922248"/>
            <a:ext cx="0" cy="332287"/>
          </a:xfrm>
          <a:prstGeom prst="straightConnector1">
            <a:avLst/>
          </a:prstGeom>
          <a:ln w="57150">
            <a:solidFill>
              <a:schemeClr val="accent1">
                <a:lumMod val="50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Connector: Elbow 87">
            <a:extLst>
              <a:ext uri="{FF2B5EF4-FFF2-40B4-BE49-F238E27FC236}">
                <a16:creationId xmlns:a16="http://schemas.microsoft.com/office/drawing/2014/main" id="{EC0772B4-3151-0C66-3CB5-ABAA68937BDC}"/>
              </a:ext>
            </a:extLst>
          </p:cNvPr>
          <p:cNvCxnSpPr>
            <a:cxnSpLocks/>
            <a:endCxn id="91" idx="3"/>
          </p:cNvCxnSpPr>
          <p:nvPr/>
        </p:nvCxnSpPr>
        <p:spPr>
          <a:xfrm rot="5400000">
            <a:off x="9361989" y="3517700"/>
            <a:ext cx="1822524" cy="338444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Connector: Elbow 91">
            <a:extLst>
              <a:ext uri="{FF2B5EF4-FFF2-40B4-BE49-F238E27FC236}">
                <a16:creationId xmlns:a16="http://schemas.microsoft.com/office/drawing/2014/main" id="{1399A299-09F9-8774-70B7-B10BB07F5943}"/>
              </a:ext>
            </a:extLst>
          </p:cNvPr>
          <p:cNvCxnSpPr>
            <a:endCxn id="69" idx="3"/>
          </p:cNvCxnSpPr>
          <p:nvPr/>
        </p:nvCxnSpPr>
        <p:spPr>
          <a:xfrm rot="5400000">
            <a:off x="9254356" y="3624795"/>
            <a:ext cx="3378331" cy="1680057"/>
          </a:xfrm>
          <a:prstGeom prst="bentConnector2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TextBox 100">
            <a:extLst>
              <a:ext uri="{FF2B5EF4-FFF2-40B4-BE49-F238E27FC236}">
                <a16:creationId xmlns:a16="http://schemas.microsoft.com/office/drawing/2014/main" id="{09EEB91A-1101-9804-5319-F44B8F909D7F}"/>
              </a:ext>
            </a:extLst>
          </p:cNvPr>
          <p:cNvSpPr txBox="1"/>
          <p:nvPr/>
        </p:nvSpPr>
        <p:spPr>
          <a:xfrm>
            <a:off x="3008316" y="5455179"/>
            <a:ext cx="24465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Настройки драйвера</a:t>
            </a:r>
          </a:p>
        </p:txBody>
      </p:sp>
      <p:sp>
        <p:nvSpPr>
          <p:cNvPr id="102" name="Flowchart: Document 101">
            <a:extLst>
              <a:ext uri="{FF2B5EF4-FFF2-40B4-BE49-F238E27FC236}">
                <a16:creationId xmlns:a16="http://schemas.microsoft.com/office/drawing/2014/main" id="{81BD9A91-678E-CC15-D38F-03CBA71CF887}"/>
              </a:ext>
            </a:extLst>
          </p:cNvPr>
          <p:cNvSpPr/>
          <p:nvPr/>
        </p:nvSpPr>
        <p:spPr>
          <a:xfrm>
            <a:off x="2879953" y="5238553"/>
            <a:ext cx="2703232" cy="1501156"/>
          </a:xfrm>
          <a:prstGeom prst="flowChartDocument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03" name="TextBox 102">
            <a:extLst>
              <a:ext uri="{FF2B5EF4-FFF2-40B4-BE49-F238E27FC236}">
                <a16:creationId xmlns:a16="http://schemas.microsoft.com/office/drawing/2014/main" id="{46D2F687-BC8E-94E4-7D16-A1062D223203}"/>
              </a:ext>
            </a:extLst>
          </p:cNvPr>
          <p:cNvSpPr txBox="1"/>
          <p:nvPr/>
        </p:nvSpPr>
        <p:spPr>
          <a:xfrm>
            <a:off x="3675165" y="5843258"/>
            <a:ext cx="111280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sz="2000" dirty="0"/>
              <a:t>файл .</a:t>
            </a:r>
            <a:r>
              <a:rPr lang="en-US" sz="2000" dirty="0" err="1"/>
              <a:t>ini</a:t>
            </a:r>
            <a:endParaRPr lang="ru-RU" sz="2000" dirty="0"/>
          </a:p>
        </p:txBody>
      </p:sp>
      <p:cxnSp>
        <p:nvCxnSpPr>
          <p:cNvPr id="105" name="Straight Connector 104">
            <a:extLst>
              <a:ext uri="{FF2B5EF4-FFF2-40B4-BE49-F238E27FC236}">
                <a16:creationId xmlns:a16="http://schemas.microsoft.com/office/drawing/2014/main" id="{6CA8A2B9-1A1C-FE26-BDCB-38322F3627BE}"/>
              </a:ext>
            </a:extLst>
          </p:cNvPr>
          <p:cNvCxnSpPr/>
          <p:nvPr/>
        </p:nvCxnSpPr>
        <p:spPr>
          <a:xfrm>
            <a:off x="3008316" y="3003648"/>
            <a:ext cx="0" cy="2234905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</p:cxn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FFF735D6-288F-21CB-F7FA-53B7DF2A6EB1}"/>
              </a:ext>
            </a:extLst>
          </p:cNvPr>
          <p:cNvCxnSpPr/>
          <p:nvPr/>
        </p:nvCxnSpPr>
        <p:spPr>
          <a:xfrm>
            <a:off x="3860800" y="4780160"/>
            <a:ext cx="0" cy="458393"/>
          </a:xfrm>
          <a:prstGeom prst="line">
            <a:avLst/>
          </a:prstGeom>
          <a:ln w="57150">
            <a:solidFill>
              <a:schemeClr val="accent1">
                <a:lumMod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71379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D2122-D42B-935E-28E6-4C6CC005C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>
            <a:extLst>
              <a:ext uri="{FF2B5EF4-FFF2-40B4-BE49-F238E27FC236}">
                <a16:creationId xmlns:a16="http://schemas.microsoft.com/office/drawing/2014/main" id="{04BE2A33-FFFE-25FD-EEAD-6F1C95FFC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8006EA-A848-1E9A-CF42-BD3FF694A29A}"/>
              </a:ext>
            </a:extLst>
          </p:cNvPr>
          <p:cNvSpPr txBox="1"/>
          <p:nvPr/>
        </p:nvSpPr>
        <p:spPr>
          <a:xfrm>
            <a:off x="2906973" y="4367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7F2C8-A6E1-CE8C-6B39-FFD9061FA3CF}"/>
              </a:ext>
            </a:extLst>
          </p:cNvPr>
          <p:cNvSpPr txBox="1"/>
          <p:nvPr/>
        </p:nvSpPr>
        <p:spPr>
          <a:xfrm>
            <a:off x="1985027" y="114240"/>
            <a:ext cx="833112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Проектное решение драйвера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227F79E-6812-A733-0156-6F0C6A0369C6}"/>
              </a:ext>
            </a:extLst>
          </p:cNvPr>
          <p:cNvSpPr/>
          <p:nvPr/>
        </p:nvSpPr>
        <p:spPr>
          <a:xfrm>
            <a:off x="109183" y="1041023"/>
            <a:ext cx="12082817" cy="586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/>
              <a:t>	</a:t>
            </a:r>
            <a:endParaRPr lang="ru-RU" sz="2000" dirty="0">
              <a:latin typeface="Century Gothic" panose="020B0502020202020204" pitchFamily="34" charset="0"/>
            </a:endParaRP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788C68F7-144C-B6CD-0E3C-ADD78D112B73}"/>
              </a:ext>
            </a:extLst>
          </p:cNvPr>
          <p:cNvSpPr txBox="1"/>
          <p:nvPr/>
        </p:nvSpPr>
        <p:spPr>
          <a:xfrm>
            <a:off x="4049612" y="1718977"/>
            <a:ext cx="286292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Century Gothic" panose="020B0502020202020204" pitchFamily="34" charset="0"/>
              </a:rPr>
              <a:t>Драйвер </a:t>
            </a:r>
            <a:r>
              <a:rPr lang="en-US" sz="2400" dirty="0">
                <a:latin typeface="Century Gothic" panose="020B0502020202020204" pitchFamily="34" charset="0"/>
              </a:rPr>
              <a:t>MATICA</a:t>
            </a:r>
            <a:endParaRPr lang="ru-RU" sz="2400" dirty="0">
              <a:latin typeface="Century Gothic" panose="020B0502020202020204" pitchFamily="34" charset="0"/>
            </a:endParaRP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2266A12E-A5E0-3C59-89B4-F6D55F8B364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97535" y="3127116"/>
            <a:ext cx="2611556" cy="1157768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461C0FE-E260-B0B3-5BCB-386BDF127CA8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566224" y="4131987"/>
            <a:ext cx="740455" cy="1473116"/>
          </a:xfrm>
          <a:prstGeom prst="rect">
            <a:avLst/>
          </a:prstGeom>
        </p:spPr>
      </p:pic>
      <p:sp>
        <p:nvSpPr>
          <p:cNvPr id="29" name="TextBox 28">
            <a:extLst>
              <a:ext uri="{FF2B5EF4-FFF2-40B4-BE49-F238E27FC236}">
                <a16:creationId xmlns:a16="http://schemas.microsoft.com/office/drawing/2014/main" id="{AFB8FFEE-F40A-1BCD-1703-038E429C33C3}"/>
              </a:ext>
            </a:extLst>
          </p:cNvPr>
          <p:cNvSpPr txBox="1"/>
          <p:nvPr/>
        </p:nvSpPr>
        <p:spPr>
          <a:xfrm>
            <a:off x="10093149" y="5641762"/>
            <a:ext cx="1680268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2000" dirty="0">
                <a:latin typeface="Century Gothic" panose="020B0502020202020204" pitchFamily="34" charset="0"/>
              </a:rPr>
              <a:t>Ридер 1</a:t>
            </a:r>
          </a:p>
          <a:p>
            <a:pPr algn="ctr"/>
            <a:r>
              <a:rPr lang="ru-RU" sz="2000" dirty="0">
                <a:latin typeface="Century Gothic" panose="020B0502020202020204" pitchFamily="34" charset="0"/>
              </a:rPr>
              <a:t>192.168.0.81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B1C6D349-E4D8-4224-7685-748A037D971E}"/>
              </a:ext>
            </a:extLst>
          </p:cNvPr>
          <p:cNvSpPr txBox="1"/>
          <p:nvPr/>
        </p:nvSpPr>
        <p:spPr>
          <a:xfrm>
            <a:off x="7678862" y="4444043"/>
            <a:ext cx="2091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TCP/IP 192.168.0.81</a:t>
            </a:r>
          </a:p>
          <a:p>
            <a:pPr algn="ctr"/>
            <a:r>
              <a:rPr lang="en-US" dirty="0" err="1"/>
              <a:t>TCPScript</a:t>
            </a:r>
            <a:r>
              <a:rPr lang="en-US" dirty="0"/>
              <a:t> </a:t>
            </a:r>
            <a:r>
              <a:rPr lang="ru-RU" dirty="0"/>
              <a:t>строка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57048D3-8958-FB7D-4C49-89469A760528}"/>
              </a:ext>
            </a:extLst>
          </p:cNvPr>
          <p:cNvSpPr txBox="1"/>
          <p:nvPr/>
        </p:nvSpPr>
        <p:spPr>
          <a:xfrm>
            <a:off x="7547463" y="2988894"/>
            <a:ext cx="2156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Ответ в виде строки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965F6F69-ADAA-96D4-C11B-63455F2080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10</a:t>
            </a:fld>
            <a:endParaRPr lang="ru-RU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A089F0A-458C-9AA2-9845-7662D92D807E}"/>
              </a:ext>
            </a:extLst>
          </p:cNvPr>
          <p:cNvSpPr/>
          <p:nvPr/>
        </p:nvSpPr>
        <p:spPr>
          <a:xfrm>
            <a:off x="3444942" y="2328529"/>
            <a:ext cx="4072270" cy="3636335"/>
          </a:xfrm>
          <a:prstGeom prst="rect">
            <a:avLst/>
          </a:prstGeom>
          <a:noFill/>
          <a:ln w="57150"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A71A94C7-9BDF-A44A-0D2C-685E1B71406B}"/>
              </a:ext>
            </a:extLst>
          </p:cNvPr>
          <p:cNvGrpSpPr/>
          <p:nvPr/>
        </p:nvGrpSpPr>
        <p:grpSpPr>
          <a:xfrm>
            <a:off x="293228" y="3033217"/>
            <a:ext cx="1765292" cy="2367668"/>
            <a:chOff x="2008240" y="4591624"/>
            <a:chExt cx="1164942" cy="1562459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3169DD1-441F-999F-93EE-7F9F0C2D4DC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008240" y="4591624"/>
              <a:ext cx="1164942" cy="1562459"/>
            </a:xfrm>
            <a:prstGeom prst="rect">
              <a:avLst/>
            </a:prstGeom>
          </p:spPr>
        </p:pic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31A0F036-D216-15A3-FE60-A8CA81D8C1B7}"/>
                </a:ext>
              </a:extLst>
            </p:cNvPr>
            <p:cNvSpPr txBox="1"/>
            <p:nvPr/>
          </p:nvSpPr>
          <p:spPr>
            <a:xfrm>
              <a:off x="2041424" y="5278921"/>
              <a:ext cx="1039044" cy="67025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2000" dirty="0">
                  <a:latin typeface="Century Gothic" panose="020B0502020202020204" pitchFamily="34" charset="0"/>
                </a:rPr>
                <a:t>Драйвер записи карты</a:t>
              </a:r>
              <a:endParaRPr lang="en-US" sz="2000" dirty="0">
                <a:latin typeface="Century Gothic" panose="020B0502020202020204" pitchFamily="34" charset="0"/>
              </a:endParaRP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112D6956-561E-0BA7-D6EA-4AA35B2732A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162261" y="4863507"/>
              <a:ext cx="728960" cy="436884"/>
            </a:xfrm>
            <a:prstGeom prst="rect">
              <a:avLst/>
            </a:prstGeom>
          </p:spPr>
        </p:pic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0E0F92DB-8619-FE44-018B-C7E7C12BCE3A}"/>
              </a:ext>
            </a:extLst>
          </p:cNvPr>
          <p:cNvSpPr txBox="1"/>
          <p:nvPr/>
        </p:nvSpPr>
        <p:spPr>
          <a:xfrm>
            <a:off x="3631104" y="2457916"/>
            <a:ext cx="3738941" cy="33590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‒"/>
            </a:pPr>
            <a:r>
              <a:rPr lang="en-US" sz="2400" dirty="0"/>
              <a:t>void Open(</a:t>
            </a:r>
            <a:r>
              <a:rPr lang="en-US" sz="2400" dirty="0" err="1"/>
              <a:t>RStr</a:t>
            </a:r>
            <a:r>
              <a:rPr lang="en-US" sz="2400" dirty="0"/>
              <a:t> address)</a:t>
            </a:r>
          </a:p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‒"/>
            </a:pPr>
            <a:r>
              <a:rPr lang="en-US" sz="2400" dirty="0"/>
              <a:t>void </a:t>
            </a:r>
            <a:r>
              <a:rPr lang="en-US" sz="2400" dirty="0" err="1"/>
              <a:t>WaitCard</a:t>
            </a:r>
            <a:r>
              <a:rPr lang="en-US" sz="2400" dirty="0"/>
              <a:t>()</a:t>
            </a:r>
          </a:p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‒"/>
            </a:pPr>
            <a:r>
              <a:rPr lang="en-US" sz="2400" dirty="0"/>
              <a:t>int Transfer(</a:t>
            </a:r>
            <a:r>
              <a:rPr lang="en-US" sz="2400" dirty="0" err="1"/>
              <a:t>RStr</a:t>
            </a:r>
            <a:r>
              <a:rPr lang="en-US" sz="2400" dirty="0"/>
              <a:t> </a:t>
            </a:r>
            <a:r>
              <a:rPr lang="en-US" sz="2400" dirty="0" err="1"/>
              <a:t>sendData</a:t>
            </a:r>
            <a:r>
              <a:rPr lang="en-US" sz="2400" dirty="0"/>
              <a:t>, </a:t>
            </a:r>
            <a:r>
              <a:rPr lang="en-US" sz="2400" dirty="0" err="1"/>
              <a:t>LStr</a:t>
            </a:r>
            <a:r>
              <a:rPr lang="en-US" sz="2400" dirty="0"/>
              <a:t> </a:t>
            </a:r>
            <a:r>
              <a:rPr lang="en-US" sz="2400" dirty="0" err="1"/>
              <a:t>recvData</a:t>
            </a:r>
            <a:r>
              <a:rPr lang="en-US" sz="2400" dirty="0"/>
              <a:t>)</a:t>
            </a:r>
          </a:p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‒"/>
            </a:pPr>
            <a:r>
              <a:rPr lang="en-US" sz="2400" dirty="0"/>
              <a:t>void Restart()</a:t>
            </a:r>
          </a:p>
          <a:p>
            <a:pPr marL="285750" indent="-285750">
              <a:lnSpc>
                <a:spcPct val="150000"/>
              </a:lnSpc>
              <a:buFont typeface="Calibri" panose="020F0502020204030204" pitchFamily="34" charset="0"/>
              <a:buChar char="‒"/>
            </a:pPr>
            <a:r>
              <a:rPr lang="en-US" sz="2400" dirty="0"/>
              <a:t>void </a:t>
            </a:r>
            <a:r>
              <a:rPr lang="en-US" sz="2400" dirty="0" err="1"/>
              <a:t>EjectCard</a:t>
            </a:r>
            <a:r>
              <a:rPr lang="en-US" sz="2400" dirty="0"/>
              <a:t>()</a:t>
            </a:r>
            <a:endParaRPr lang="ru-RU" sz="2400" dirty="0"/>
          </a:p>
        </p:txBody>
      </p: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556C19A-E342-FA05-2C11-B9E8442B6784}"/>
              </a:ext>
            </a:extLst>
          </p:cNvPr>
          <p:cNvGrpSpPr/>
          <p:nvPr/>
        </p:nvGrpSpPr>
        <p:grpSpPr>
          <a:xfrm>
            <a:off x="2095790" y="3719710"/>
            <a:ext cx="1294475" cy="880434"/>
            <a:chOff x="9590966" y="4185349"/>
            <a:chExt cx="1157836" cy="787499"/>
          </a:xfrm>
        </p:grpSpPr>
        <p:pic>
          <p:nvPicPr>
            <p:cNvPr id="31" name="Picture 30">
              <a:extLst>
                <a:ext uri="{FF2B5EF4-FFF2-40B4-BE49-F238E27FC236}">
                  <a16:creationId xmlns:a16="http://schemas.microsoft.com/office/drawing/2014/main" id="{3F62A5AC-E6E7-21EC-439D-83AC4F64AC5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0800000">
              <a:off x="9590966" y="4185349"/>
              <a:ext cx="1146960" cy="342224"/>
            </a:xfrm>
            <a:prstGeom prst="rect">
              <a:avLst/>
            </a:prstGeom>
          </p:spPr>
        </p:pic>
        <p:pic>
          <p:nvPicPr>
            <p:cNvPr id="32" name="Picture 31">
              <a:extLst>
                <a:ext uri="{FF2B5EF4-FFF2-40B4-BE49-F238E27FC236}">
                  <a16:creationId xmlns:a16="http://schemas.microsoft.com/office/drawing/2014/main" id="{A7225D4E-79CA-1226-4C3E-AB5BD1A3084C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0800000" flipH="1">
              <a:off x="9601840" y="4630624"/>
              <a:ext cx="1146962" cy="342224"/>
            </a:xfrm>
            <a:prstGeom prst="rect">
              <a:avLst/>
            </a:prstGeom>
          </p:spPr>
        </p:pic>
      </p:grp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FDCB292-52CB-04CE-5598-D2411A898F66}"/>
              </a:ext>
            </a:extLst>
          </p:cNvPr>
          <p:cNvGrpSpPr/>
          <p:nvPr/>
        </p:nvGrpSpPr>
        <p:grpSpPr>
          <a:xfrm>
            <a:off x="7810136" y="3445214"/>
            <a:ext cx="1294475" cy="880434"/>
            <a:chOff x="9590966" y="4185349"/>
            <a:chExt cx="1157836" cy="787499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57B408D8-6A1B-8EC6-BC8D-7AEC11E07AD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0800000">
              <a:off x="9590966" y="4185349"/>
              <a:ext cx="1146960" cy="342224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4DFA6882-2159-2145-2B4A-82C46722F56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 rot="10800000" flipH="1">
              <a:off x="9601840" y="4630624"/>
              <a:ext cx="1146962" cy="342224"/>
            </a:xfrm>
            <a:prstGeom prst="rect">
              <a:avLst/>
            </a:prstGeom>
          </p:spPr>
        </p:pic>
      </p:grpSp>
      <p:sp>
        <p:nvSpPr>
          <p:cNvPr id="36" name="TextBox 35">
            <a:extLst>
              <a:ext uri="{FF2B5EF4-FFF2-40B4-BE49-F238E27FC236}">
                <a16:creationId xmlns:a16="http://schemas.microsoft.com/office/drawing/2014/main" id="{7AB614CA-9C7F-1B49-5BE4-5F3B0704F493}"/>
              </a:ext>
            </a:extLst>
          </p:cNvPr>
          <p:cNvSpPr txBox="1"/>
          <p:nvPr/>
        </p:nvSpPr>
        <p:spPr>
          <a:xfrm>
            <a:off x="2220170" y="4715355"/>
            <a:ext cx="104191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Вызов</a:t>
            </a:r>
          </a:p>
          <a:p>
            <a:r>
              <a:rPr lang="ru-RU" dirty="0"/>
              <a:t>функции</a:t>
            </a:r>
          </a:p>
        </p:txBody>
      </p:sp>
    </p:spTree>
    <p:extLst>
      <p:ext uri="{BB962C8B-B14F-4D97-AF65-F5344CB8AC3E}">
        <p14:creationId xmlns:p14="http://schemas.microsoft.com/office/powerpoint/2010/main" val="18220243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75A32A-B847-9EEC-1332-E852FF7F88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>
            <a:extLst>
              <a:ext uri="{FF2B5EF4-FFF2-40B4-BE49-F238E27FC236}">
                <a16:creationId xmlns:a16="http://schemas.microsoft.com/office/drawing/2014/main" id="{25AD3CD8-2F47-BA57-F157-82A11F6457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311015E-D3B6-2969-3514-0780B99258FA}"/>
              </a:ext>
            </a:extLst>
          </p:cNvPr>
          <p:cNvSpPr txBox="1"/>
          <p:nvPr/>
        </p:nvSpPr>
        <p:spPr>
          <a:xfrm>
            <a:off x="3534770" y="450376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9A55057-2BA1-06D8-1DC2-A5C118F15A01}"/>
              </a:ext>
            </a:extLst>
          </p:cNvPr>
          <p:cNvSpPr txBox="1"/>
          <p:nvPr/>
        </p:nvSpPr>
        <p:spPr>
          <a:xfrm>
            <a:off x="3164749" y="137376"/>
            <a:ext cx="5862502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40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Полученный результат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A66347E3-5E3B-981D-5BEE-4C258D764B3C}"/>
              </a:ext>
            </a:extLst>
          </p:cNvPr>
          <p:cNvGrpSpPr/>
          <p:nvPr/>
        </p:nvGrpSpPr>
        <p:grpSpPr>
          <a:xfrm>
            <a:off x="2192404" y="1368318"/>
            <a:ext cx="1785431" cy="2270345"/>
            <a:chOff x="848488" y="2995177"/>
            <a:chExt cx="1785431" cy="2270345"/>
          </a:xfrm>
        </p:grpSpPr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B6F68803-8B80-7A3C-CC40-38A98DB10B2F}"/>
                </a:ext>
              </a:extLst>
            </p:cNvPr>
            <p:cNvSpPr txBox="1"/>
            <p:nvPr/>
          </p:nvSpPr>
          <p:spPr>
            <a:xfrm>
              <a:off x="848488" y="4557636"/>
              <a:ext cx="178543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2000" dirty="0" err="1">
                  <a:latin typeface="Century Gothic" panose="020B0502020202020204" pitchFamily="34" charset="0"/>
                </a:rPr>
                <a:t>TranzWare</a:t>
              </a:r>
              <a:r>
                <a:rPr lang="en-US" sz="2000" dirty="0">
                  <a:latin typeface="Century Gothic" panose="020B0502020202020204" pitchFamily="34" charset="0"/>
                </a:rPr>
                <a:t> </a:t>
              </a:r>
              <a:r>
                <a:rPr lang="en-US" sz="2000" dirty="0" err="1">
                  <a:latin typeface="Century Gothic" panose="020B0502020202020204" pitchFamily="34" charset="0"/>
                </a:rPr>
                <a:t>CardFactory</a:t>
              </a:r>
              <a:endParaRPr lang="ru-RU" sz="2000" dirty="0">
                <a:latin typeface="Century Gothic" panose="020B0502020202020204" pitchFamily="34" charset="0"/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84150CA6-F809-C224-716F-3C7FE197F8EC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92936" y="2995177"/>
              <a:ext cx="1496533" cy="1562459"/>
            </a:xfrm>
            <a:prstGeom prst="rect">
              <a:avLst/>
            </a:prstGeom>
          </p:spPr>
        </p:pic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66D96036-E80B-98FA-6ADF-8C252134FE2B}"/>
              </a:ext>
            </a:extLst>
          </p:cNvPr>
          <p:cNvGrpSpPr/>
          <p:nvPr/>
        </p:nvGrpSpPr>
        <p:grpSpPr>
          <a:xfrm>
            <a:off x="5116020" y="4821403"/>
            <a:ext cx="1959959" cy="1849381"/>
            <a:chOff x="8567446" y="2815761"/>
            <a:chExt cx="1959959" cy="1849381"/>
          </a:xfrm>
        </p:grpSpPr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D28DAD5F-0607-CBCF-0BB6-55824DBF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567446" y="2815761"/>
              <a:ext cx="1959959" cy="1068152"/>
            </a:xfrm>
            <a:prstGeom prst="rect">
              <a:avLst/>
            </a:prstGeom>
          </p:spPr>
        </p:pic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F5C771F6-641E-A9B0-3DDF-AD9D484A5F8A}"/>
                </a:ext>
              </a:extLst>
            </p:cNvPr>
            <p:cNvSpPr txBox="1"/>
            <p:nvPr/>
          </p:nvSpPr>
          <p:spPr>
            <a:xfrm>
              <a:off x="8654709" y="3957256"/>
              <a:ext cx="1785431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ru-RU" sz="2000" dirty="0">
                  <a:latin typeface="Century Gothic" panose="020B0502020202020204" pitchFamily="34" charset="0"/>
                </a:rPr>
                <a:t>Эмбоссер </a:t>
              </a:r>
              <a:r>
                <a:rPr lang="en-US" sz="2000" dirty="0" err="1">
                  <a:latin typeface="Century Gothic" panose="020B0502020202020204" pitchFamily="34" charset="0"/>
                </a:rPr>
                <a:t>SmartWare</a:t>
              </a:r>
              <a:endParaRPr lang="ru-RU" sz="20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D8C7D89F-5C7F-6203-214C-B6B277DA89E8}"/>
              </a:ext>
            </a:extLst>
          </p:cNvPr>
          <p:cNvGrpSpPr/>
          <p:nvPr/>
        </p:nvGrpSpPr>
        <p:grpSpPr>
          <a:xfrm>
            <a:off x="7891293" y="1251472"/>
            <a:ext cx="2144831" cy="1931791"/>
            <a:chOff x="9355402" y="2946927"/>
            <a:chExt cx="2144831" cy="1931791"/>
          </a:xfrm>
        </p:grpSpPr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80FAA1B6-1561-3B29-D482-2C2572DDA0A1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9355402" y="2946927"/>
              <a:ext cx="2144831" cy="1562459"/>
            </a:xfrm>
            <a:prstGeom prst="rect">
              <a:avLst/>
            </a:prstGeom>
          </p:spPr>
        </p:pic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0D2CC07-1782-E0E4-4916-9CCBFB0E1D10}"/>
                </a:ext>
              </a:extLst>
            </p:cNvPr>
            <p:cNvSpPr txBox="1"/>
            <p:nvPr/>
          </p:nvSpPr>
          <p:spPr>
            <a:xfrm>
              <a:off x="9540257" y="4509386"/>
              <a:ext cx="177512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latin typeface="Century Gothic" panose="020B0502020202020204" pitchFamily="34" charset="0"/>
                </a:rPr>
                <a:t>Maticard</a:t>
              </a:r>
              <a:r>
                <a:rPr lang="en-US" dirty="0">
                  <a:latin typeface="Century Gothic" panose="020B0502020202020204" pitchFamily="34" charset="0"/>
                </a:rPr>
                <a:t> PRO</a:t>
              </a: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778D3DC5-FC2C-2E58-475B-AB377F1DEAE5}"/>
              </a:ext>
            </a:extLst>
          </p:cNvPr>
          <p:cNvGrpSpPr/>
          <p:nvPr/>
        </p:nvGrpSpPr>
        <p:grpSpPr>
          <a:xfrm>
            <a:off x="4134526" y="3159894"/>
            <a:ext cx="1250190" cy="744867"/>
            <a:chOff x="3051580" y="2997200"/>
            <a:chExt cx="1486171" cy="885465"/>
          </a:xfrm>
        </p:grpSpPr>
        <p:pic>
          <p:nvPicPr>
            <p:cNvPr id="15" name="Picture 14">
              <a:extLst>
                <a:ext uri="{FF2B5EF4-FFF2-40B4-BE49-F238E27FC236}">
                  <a16:creationId xmlns:a16="http://schemas.microsoft.com/office/drawing/2014/main" id="{25401375-6B3A-A832-6805-C919C62460FB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3051580" y="2997200"/>
              <a:ext cx="1475297" cy="440190"/>
            </a:xfrm>
            <a:prstGeom prst="rect">
              <a:avLst/>
            </a:prstGeom>
          </p:spPr>
        </p:pic>
        <p:pic>
          <p:nvPicPr>
            <p:cNvPr id="16" name="Picture 15">
              <a:extLst>
                <a:ext uri="{FF2B5EF4-FFF2-40B4-BE49-F238E27FC236}">
                  <a16:creationId xmlns:a16="http://schemas.microsoft.com/office/drawing/2014/main" id="{421A3874-6C9B-752B-1B31-5546587F790E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 flipH="1">
              <a:off x="3062454" y="3442475"/>
              <a:ext cx="1475297" cy="440190"/>
            </a:xfrm>
            <a:prstGeom prst="rect">
              <a:avLst/>
            </a:prstGeom>
          </p:spPr>
        </p:pic>
      </p:grpSp>
      <p:grpSp>
        <p:nvGrpSpPr>
          <p:cNvPr id="32" name="Group 31">
            <a:extLst>
              <a:ext uri="{FF2B5EF4-FFF2-40B4-BE49-F238E27FC236}">
                <a16:creationId xmlns:a16="http://schemas.microsoft.com/office/drawing/2014/main" id="{4B469F37-80B1-DB06-5F60-D1F07695E31F}"/>
              </a:ext>
            </a:extLst>
          </p:cNvPr>
          <p:cNvGrpSpPr/>
          <p:nvPr/>
        </p:nvGrpSpPr>
        <p:grpSpPr>
          <a:xfrm rot="18994099">
            <a:off x="6937248" y="3677414"/>
            <a:ext cx="1860339" cy="993213"/>
            <a:chOff x="6743121" y="2762420"/>
            <a:chExt cx="1486171" cy="885465"/>
          </a:xfrm>
        </p:grpSpPr>
        <p:pic>
          <p:nvPicPr>
            <p:cNvPr id="17" name="Picture 16">
              <a:extLst>
                <a:ext uri="{FF2B5EF4-FFF2-40B4-BE49-F238E27FC236}">
                  <a16:creationId xmlns:a16="http://schemas.microsoft.com/office/drawing/2014/main" id="{6A685DFE-FB4D-4EE7-4A84-911F703F131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6743121" y="2762420"/>
              <a:ext cx="1475297" cy="440190"/>
            </a:xfrm>
            <a:prstGeom prst="rect">
              <a:avLst/>
            </a:prstGeom>
          </p:spPr>
        </p:pic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55E88F04-3D18-0261-429A-930D0E17F431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 flipH="1">
              <a:off x="6753995" y="3207695"/>
              <a:ext cx="1475297" cy="440190"/>
            </a:xfrm>
            <a:prstGeom prst="rect">
              <a:avLst/>
            </a:prstGeom>
          </p:spPr>
        </p:pic>
      </p:grpSp>
      <p:pic>
        <p:nvPicPr>
          <p:cNvPr id="19" name="Picture 18">
            <a:extLst>
              <a:ext uri="{FF2B5EF4-FFF2-40B4-BE49-F238E27FC236}">
                <a16:creationId xmlns:a16="http://schemas.microsoft.com/office/drawing/2014/main" id="{E4793CAE-88A6-7906-4A2C-7B006B12D6E3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5226" y="5080571"/>
            <a:ext cx="1810669" cy="1085182"/>
          </a:xfrm>
          <a:prstGeom prst="rect">
            <a:avLst/>
          </a:prstGeom>
        </p:spPr>
      </p:pic>
      <p:grpSp>
        <p:nvGrpSpPr>
          <p:cNvPr id="27" name="Group 26">
            <a:extLst>
              <a:ext uri="{FF2B5EF4-FFF2-40B4-BE49-F238E27FC236}">
                <a16:creationId xmlns:a16="http://schemas.microsoft.com/office/drawing/2014/main" id="{3D6BF4B3-441C-FF17-2555-CD6E50C18946}"/>
              </a:ext>
            </a:extLst>
          </p:cNvPr>
          <p:cNvGrpSpPr/>
          <p:nvPr/>
        </p:nvGrpSpPr>
        <p:grpSpPr>
          <a:xfrm rot="10800000">
            <a:off x="4937098" y="1688513"/>
            <a:ext cx="1959959" cy="800421"/>
            <a:chOff x="2071940" y="4941171"/>
            <a:chExt cx="1486171" cy="885465"/>
          </a:xfrm>
        </p:grpSpPr>
        <p:pic>
          <p:nvPicPr>
            <p:cNvPr id="25" name="Picture 24">
              <a:extLst>
                <a:ext uri="{FF2B5EF4-FFF2-40B4-BE49-F238E27FC236}">
                  <a16:creationId xmlns:a16="http://schemas.microsoft.com/office/drawing/2014/main" id="{ADC03664-4CC0-C642-F3DA-25A8281D12AA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2071940" y="4941171"/>
              <a:ext cx="1475297" cy="440190"/>
            </a:xfrm>
            <a:prstGeom prst="rect">
              <a:avLst/>
            </a:prstGeom>
          </p:spPr>
        </p:pic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DCFED0A-0F27-87E2-FAC1-FBBAFB14AC6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 flipH="1">
              <a:off x="2082814" y="5386446"/>
              <a:ext cx="1475297" cy="440190"/>
            </a:xfrm>
            <a:prstGeom prst="rect">
              <a:avLst/>
            </a:prstGeom>
          </p:spPr>
        </p:pic>
      </p:grpSp>
      <p:pic>
        <p:nvPicPr>
          <p:cNvPr id="28" name="Picture 27">
            <a:extLst>
              <a:ext uri="{FF2B5EF4-FFF2-40B4-BE49-F238E27FC236}">
                <a16:creationId xmlns:a16="http://schemas.microsoft.com/office/drawing/2014/main" id="{AF3A5F0D-C1A3-E312-A2DE-B38061EEBCA2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78980" y="5448970"/>
            <a:ext cx="1584729" cy="428898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1CB8E09-38F0-A824-24EA-2EFF96B6A96D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66710" y="5300046"/>
            <a:ext cx="2206943" cy="865707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CACEEB6-A125-02EB-5E4E-BA036D312A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11</a:t>
            </a:fld>
            <a:endParaRPr lang="ru-RU"/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FA28451-37C6-7634-A1E5-0FB9912301A7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28896" y="5425614"/>
            <a:ext cx="1584729" cy="428898"/>
          </a:xfrm>
          <a:prstGeom prst="rect">
            <a:avLst/>
          </a:prstGeom>
        </p:spPr>
      </p:pic>
      <p:grpSp>
        <p:nvGrpSpPr>
          <p:cNvPr id="33" name="Group 32">
            <a:extLst>
              <a:ext uri="{FF2B5EF4-FFF2-40B4-BE49-F238E27FC236}">
                <a16:creationId xmlns:a16="http://schemas.microsoft.com/office/drawing/2014/main" id="{83397354-AF78-9F5E-5983-9D64A1B441C7}"/>
              </a:ext>
            </a:extLst>
          </p:cNvPr>
          <p:cNvGrpSpPr/>
          <p:nvPr/>
        </p:nvGrpSpPr>
        <p:grpSpPr>
          <a:xfrm>
            <a:off x="5609836" y="2728635"/>
            <a:ext cx="1321445" cy="1562459"/>
            <a:chOff x="4459057" y="4591624"/>
            <a:chExt cx="1321445" cy="1562459"/>
          </a:xfrm>
        </p:grpSpPr>
        <p:pic>
          <p:nvPicPr>
            <p:cNvPr id="34" name="Picture 33">
              <a:extLst>
                <a:ext uri="{FF2B5EF4-FFF2-40B4-BE49-F238E27FC236}">
                  <a16:creationId xmlns:a16="http://schemas.microsoft.com/office/drawing/2014/main" id="{766F2B58-F642-D005-C1E4-405635F75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459057" y="4591624"/>
              <a:ext cx="1164942" cy="1562459"/>
            </a:xfrm>
            <a:prstGeom prst="rect">
              <a:avLst/>
            </a:prstGeom>
          </p:spPr>
        </p:pic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75BC1F09-2B02-0C6E-E34D-4CD93CD47B3E}"/>
                </a:ext>
              </a:extLst>
            </p:cNvPr>
            <p:cNvPicPr>
              <a:picLocks noChangeAspect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615748" y="4727446"/>
              <a:ext cx="851560" cy="620342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E79FFB8-18C1-25AB-911B-E14F1796DE7D}"/>
                </a:ext>
              </a:extLst>
            </p:cNvPr>
            <p:cNvSpPr txBox="1"/>
            <p:nvPr/>
          </p:nvSpPr>
          <p:spPr>
            <a:xfrm>
              <a:off x="4506434" y="5395317"/>
              <a:ext cx="1274068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ru-RU" sz="1600" dirty="0">
                  <a:latin typeface="Century Gothic" panose="020B0502020202020204" pitchFamily="34" charset="0"/>
                </a:rPr>
                <a:t>Драйвер </a:t>
              </a:r>
            </a:p>
            <a:p>
              <a:r>
                <a:rPr lang="en-US" sz="1600" dirty="0">
                  <a:latin typeface="Century Gothic" panose="020B0502020202020204" pitchFamily="34" charset="0"/>
                </a:rPr>
                <a:t>MATICA</a:t>
              </a:r>
              <a:endParaRPr lang="ru-RU" sz="1600" dirty="0">
                <a:latin typeface="Century Gothic" panose="020B0502020202020204" pitchFamily="34" charset="0"/>
              </a:endParaRPr>
            </a:p>
          </p:txBody>
        </p:sp>
      </p:grpSp>
      <p:grpSp>
        <p:nvGrpSpPr>
          <p:cNvPr id="37" name="Group 36">
            <a:extLst>
              <a:ext uri="{FF2B5EF4-FFF2-40B4-BE49-F238E27FC236}">
                <a16:creationId xmlns:a16="http://schemas.microsoft.com/office/drawing/2014/main" id="{FBC0659D-63F2-2C70-04DC-C69AC93B3E0C}"/>
              </a:ext>
            </a:extLst>
          </p:cNvPr>
          <p:cNvGrpSpPr/>
          <p:nvPr/>
        </p:nvGrpSpPr>
        <p:grpSpPr>
          <a:xfrm rot="5400000">
            <a:off x="5953048" y="4389403"/>
            <a:ext cx="478518" cy="333690"/>
            <a:chOff x="3051580" y="2997200"/>
            <a:chExt cx="1486171" cy="885465"/>
          </a:xfrm>
        </p:grpSpPr>
        <p:pic>
          <p:nvPicPr>
            <p:cNvPr id="38" name="Picture 37">
              <a:extLst>
                <a:ext uri="{FF2B5EF4-FFF2-40B4-BE49-F238E27FC236}">
                  <a16:creationId xmlns:a16="http://schemas.microsoft.com/office/drawing/2014/main" id="{CF4DD96F-D166-215C-71F3-BD4E16574C1D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>
              <a:off x="3051580" y="2997200"/>
              <a:ext cx="1475297" cy="440190"/>
            </a:xfrm>
            <a:prstGeom prst="rect">
              <a:avLst/>
            </a:prstGeom>
          </p:spPr>
        </p:pic>
        <p:pic>
          <p:nvPicPr>
            <p:cNvPr id="39" name="Picture 38">
              <a:extLst>
                <a:ext uri="{FF2B5EF4-FFF2-40B4-BE49-F238E27FC236}">
                  <a16:creationId xmlns:a16="http://schemas.microsoft.com/office/drawing/2014/main" id="{12B37ACB-3A02-A7A8-832A-CBFC2B9F2616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 rot="10800000" flipH="1">
              <a:off x="3062454" y="3442475"/>
              <a:ext cx="1475297" cy="44019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626228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DD2122-D42B-935E-28E6-4C6CC005CC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C:\Users\Андрей\Desktop\1\Безымянный-1.png">
            <a:extLst>
              <a:ext uri="{FF2B5EF4-FFF2-40B4-BE49-F238E27FC236}">
                <a16:creationId xmlns:a16="http://schemas.microsoft.com/office/drawing/2014/main" id="{04BE2A33-FFFE-25FD-EEAD-6F1C95FFC8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9826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B8006EA-A848-1E9A-CF42-BD3FF694A29A}"/>
              </a:ext>
            </a:extLst>
          </p:cNvPr>
          <p:cNvSpPr txBox="1"/>
          <p:nvPr/>
        </p:nvSpPr>
        <p:spPr>
          <a:xfrm>
            <a:off x="2906973" y="43672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ru-RU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6F7F2C8-A6E1-CE8C-6B39-FFD9061FA3CF}"/>
              </a:ext>
            </a:extLst>
          </p:cNvPr>
          <p:cNvSpPr txBox="1"/>
          <p:nvPr/>
        </p:nvSpPr>
        <p:spPr>
          <a:xfrm>
            <a:off x="1226726" y="168153"/>
            <a:ext cx="973856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3600" dirty="0">
                <a:solidFill>
                  <a:schemeClr val="bg1">
                    <a:lumMod val="9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entury Gothic" panose="020B0502020202020204" pitchFamily="34" charset="0"/>
              </a:rPr>
              <a:t>Преимущества программного решения</a:t>
            </a:r>
          </a:p>
        </p:txBody>
      </p:sp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D227F79E-6812-A733-0156-6F0C6A0369C6}"/>
              </a:ext>
            </a:extLst>
          </p:cNvPr>
          <p:cNvSpPr/>
          <p:nvPr/>
        </p:nvSpPr>
        <p:spPr>
          <a:xfrm>
            <a:off x="109183" y="1041023"/>
            <a:ext cx="12082817" cy="58631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</a:pPr>
            <a:r>
              <a:rPr lang="ru-RU" sz="2400" dirty="0"/>
              <a:t>	</a:t>
            </a:r>
            <a:endParaRPr lang="ru-RU" sz="2000" dirty="0">
              <a:latin typeface="Century Gothic" panose="020B0502020202020204" pitchFamily="34" charset="0"/>
            </a:endParaRPr>
          </a:p>
        </p:txBody>
      </p:sp>
      <p:sp>
        <p:nvSpPr>
          <p:cNvPr id="22" name="Прямоугольник 5"/>
          <p:cNvSpPr/>
          <p:nvPr/>
        </p:nvSpPr>
        <p:spPr>
          <a:xfrm>
            <a:off x="295702" y="1616374"/>
            <a:ext cx="11600596" cy="455509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Aft>
                <a:spcPts val="600"/>
              </a:spcAft>
              <a:defRPr/>
            </a:pPr>
            <a:r>
              <a:rPr lang="en-US" altLang="ru-RU" sz="17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	</a:t>
            </a: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Автоматизация работы программного продукта </a:t>
            </a:r>
            <a:r>
              <a:rPr lang="en-US" altLang="ru-RU" sz="2000" dirty="0" err="1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TranzWare</a:t>
            </a:r>
            <a:r>
              <a:rPr lang="en-US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altLang="ru-RU" sz="2000" dirty="0" err="1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CardFactory</a:t>
            </a: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 с кардридерным модулем эмбоссера </a:t>
            </a:r>
            <a:r>
              <a:rPr lang="en-US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MATICA </a:t>
            </a: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даст компании ООО «</a:t>
            </a:r>
            <a:r>
              <a:rPr lang="en-US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Compass Plus</a:t>
            </a: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» и ее клиентам такие преимущества как: 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Повышение скорости выпуска карт при использовании эмбоссеров </a:t>
            </a:r>
            <a:r>
              <a:rPr lang="en-US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MATICA</a:t>
            </a: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;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Отсутствие необходимости отдельно производить запись информации на чип, весь процесс персонализации будет происходить непрерывно;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Возможность удаленной работы с кардридерным модулем;</a:t>
            </a:r>
          </a:p>
          <a:p>
            <a:pPr marL="342900" indent="-342900" algn="just">
              <a:lnSpc>
                <a:spcPct val="150000"/>
              </a:lnSpc>
              <a:spcAft>
                <a:spcPts val="600"/>
              </a:spcAft>
              <a:buFont typeface="Arial" panose="020B0604020202020204" pitchFamily="34" charset="0"/>
              <a:buChar char="•"/>
              <a:defRPr/>
            </a:pPr>
            <a:r>
              <a:rPr lang="ru-RU" altLang="ru-RU" sz="2000" dirty="0">
                <a:latin typeface="Century Gothic" panose="020B0502020202020204" pitchFamily="34" charset="0"/>
                <a:ea typeface="Calibri" panose="020F0502020204030204" pitchFamily="34" charset="0"/>
                <a:cs typeface="Times New Roman" panose="02020603050405020304" pitchFamily="18" charset="0"/>
              </a:rPr>
              <a:t>Возможность изменения настроек кардридерного модуля внутри собственного продукта;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5CDA0625-4083-6AF0-F017-2C83C17054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12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5399201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737633" y="1009934"/>
            <a:ext cx="6835526" cy="452431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ru-RU" sz="9600" dirty="0">
                <a:solidFill>
                  <a:srgbClr val="002060"/>
                </a:solidFill>
                <a:latin typeface="Century Gothic" panose="020B0502020202020204" pitchFamily="34" charset="0"/>
              </a:rPr>
              <a:t>Спасибо </a:t>
            </a:r>
          </a:p>
          <a:p>
            <a:pPr algn="ctr"/>
            <a:r>
              <a:rPr lang="ru-RU" sz="9600" dirty="0">
                <a:solidFill>
                  <a:srgbClr val="002060"/>
                </a:solidFill>
                <a:latin typeface="Century Gothic" panose="020B0502020202020204" pitchFamily="34" charset="0"/>
              </a:rPr>
              <a:t>за</a:t>
            </a:r>
          </a:p>
          <a:p>
            <a:pPr algn="ctr"/>
            <a:r>
              <a:rPr lang="ru-RU" sz="9600" dirty="0">
                <a:solidFill>
                  <a:srgbClr val="002060"/>
                </a:solidFill>
                <a:latin typeface="Century Gothic" panose="020B0502020202020204" pitchFamily="34" charset="0"/>
              </a:rPr>
              <a:t>внимание!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5041D41-5C96-6451-10EE-634D51BB95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71AB917-4A67-459A-ADEA-E0250FA5C43E}" type="slidenum">
              <a:rPr lang="ru-RU" smtClean="0"/>
              <a:t>13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364366597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1881</TotalTime>
  <Words>1630</Words>
  <Application>Microsoft Office PowerPoint</Application>
  <PresentationFormat>Widescreen</PresentationFormat>
  <Paragraphs>181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Century Gothic</vt:lpstr>
      <vt:lpstr>Times New Roman</vt:lpstr>
      <vt:lpstr>Тема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SPecialiST RePack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Alena Kalyuzhnaya</dc:creator>
  <cp:lastModifiedBy>Konstantin Shemyakin</cp:lastModifiedBy>
  <cp:revision>116</cp:revision>
  <cp:lastPrinted>2017-06-22T16:10:04Z</cp:lastPrinted>
  <dcterms:created xsi:type="dcterms:W3CDTF">2017-06-16T14:15:23Z</dcterms:created>
  <dcterms:modified xsi:type="dcterms:W3CDTF">2025-06-14T15:55:55Z</dcterms:modified>
</cp:coreProperties>
</file>